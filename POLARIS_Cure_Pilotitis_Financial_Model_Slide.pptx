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Mobilization &amp; strategy design</c:v>
                </c:pt>
              </c:strCache>
            </c:strRef>
          </c:tx>
          <c:spPr>
            <a:solidFill>
              <a:srgbClr val="2B61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Investment</c:v>
                  </c:pt>
                </c:lvl>
              </c:multiLvlStrCache>
            </c:multiLvlStrRef>
          </c:cat>
          <c:val>
            <c:numRef>
              <c:f>Sheet1!$B$2:$B$2</c:f>
              <c:numCache>
                <c:formatCode>General</c:formatCode>
                <c:ptCount val="1"/>
                <c:pt idx="0">
                  <c:v>0.42</c:v>
                </c:pt>
              </c:numCache>
            </c:numRef>
          </c:val>
        </c:ser>
        <c:ser>
          <c:idx val="1"/>
          <c:order val="1"/>
          <c:tx>
            <c:strRef>
              <c:f>Sheet1!$C$1</c:f>
              <c:strCache>
                <c:ptCount val="1"/>
                <c:pt idx="0">
                  <c:v>Core platform build</c:v>
                </c:pt>
              </c:strCache>
            </c:strRef>
          </c:tx>
          <c:spPr>
            <a:solidFill>
              <a:srgbClr val="266C8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Investment</c:v>
                  </c:pt>
                </c:lvl>
              </c:multiLvlStrCache>
            </c:multiLvlStrRef>
          </c:cat>
          <c:val>
            <c:numRef>
              <c:f>Sheet1!$C$2:$C$2</c:f>
              <c:numCache>
                <c:formatCode>General</c:formatCode>
                <c:ptCount val="1"/>
                <c:pt idx="0">
                  <c:v>1.25</c:v>
                </c:pt>
              </c:numCache>
            </c:numRef>
          </c:val>
        </c:ser>
        <c:ser>
          <c:idx val="2"/>
          <c:order val="2"/>
          <c:tx>
            <c:strRef>
              <c:f>Sheet1!$D$1</c:f>
              <c:strCache>
                <c:ptCount val="1"/>
                <c:pt idx="0">
                  <c:v>Analytics, ESRS &amp; AI controls</c:v>
                </c:pt>
              </c:strCache>
            </c:strRef>
          </c:tx>
          <c:spPr>
            <a:solidFill>
              <a:srgbClr val="2176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Investment</c:v>
                  </c:pt>
                </c:lvl>
              </c:multiLvlStrCache>
            </c:multiLvlStrRef>
          </c:cat>
          <c:val>
            <c:numRef>
              <c:f>Sheet1!$D$2:$D$2</c:f>
              <c:numCache>
                <c:formatCode>General</c:formatCode>
                <c:ptCount val="1"/>
                <c:pt idx="0">
                  <c:v>0.82</c:v>
                </c:pt>
              </c:numCache>
            </c:numRef>
          </c:val>
        </c:ser>
        <c:ser>
          <c:idx val="3"/>
          <c:order val="3"/>
          <c:tx>
            <c:strRef>
              <c:f>Sheet1!$E$1</c:f>
              <c:strCache>
                <c:ptCount val="1"/>
                <c:pt idx="0">
                  <c:v>Security, privacy &amp; assurance</c:v>
                </c:pt>
              </c:strCache>
            </c:strRef>
          </c:tx>
          <c:spPr>
            <a:solidFill>
              <a:srgbClr val="1C81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Investment</c:v>
                  </c:pt>
                </c:lvl>
              </c:multiLvlStrCache>
            </c:multiLvlStrRef>
          </c:cat>
          <c:val>
            <c:numRef>
              <c:f>Sheet1!$E$2:$E$2</c:f>
              <c:numCache>
                <c:formatCode>General</c:formatCode>
                <c:ptCount val="1"/>
                <c:pt idx="0">
                  <c:v>0.56</c:v>
                </c:pt>
              </c:numCache>
            </c:numRef>
          </c:val>
        </c:ser>
        <c:ser>
          <c:idx val="4"/>
          <c:order val="4"/>
          <c:tx>
            <c:strRef>
              <c:f>Sheet1!$F$1</c:f>
              <c:strCache>
                <c:ptCount val="1"/>
                <c:pt idx="0">
                  <c:v>Integrations &amp; data foundations</c:v>
                </c:pt>
              </c:strCache>
            </c:strRef>
          </c:tx>
          <c:spPr>
            <a:solidFill>
              <a:srgbClr val="168CA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Investment</c:v>
                  </c:pt>
                </c:lvl>
              </c:multiLvlStrCache>
            </c:multiLvlStrRef>
          </c:cat>
          <c:val>
            <c:numRef>
              <c:f>Sheet1!$F$2:$F$2</c:f>
              <c:numCache>
                <c:formatCode>General</c:formatCode>
                <c:ptCount val="1"/>
                <c:pt idx="0">
                  <c:v>0.72</c:v>
                </c:pt>
              </c:numCache>
            </c:numRef>
          </c:val>
        </c:ser>
        <c:ser>
          <c:idx val="5"/>
          <c:order val="5"/>
          <c:tx>
            <c:strRef>
              <c:f>Sheet1!$G$1</c:f>
              <c:strCache>
                <c:ptCount val="1"/>
                <c:pt idx="0">
                  <c:v>Pilot deployments &amp; testing</c:v>
                </c:pt>
              </c:strCache>
            </c:strRef>
          </c:tx>
          <c:spPr>
            <a:solidFill>
              <a:srgbClr val="1197A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Investment</c:v>
                  </c:pt>
                </c:lvl>
              </c:multiLvlStrCache>
            </c:multiLvlStrRef>
          </c:cat>
          <c:val>
            <c:numRef>
              <c:f>Sheet1!$G$2:$G$2</c:f>
              <c:numCache>
                <c:formatCode>General</c:formatCode>
                <c:ptCount val="1"/>
                <c:pt idx="0">
                  <c:v>0.55</c:v>
                </c:pt>
              </c:numCache>
            </c:numRef>
          </c:val>
        </c:ser>
        <c:ser>
          <c:idx val="6"/>
          <c:order val="6"/>
          <c:tx>
            <c:strRef>
              <c:f>Sheet1!$H$1</c:f>
              <c:strCache>
                <c:ptCount val="1"/>
                <c:pt idx="0">
                  <c:v>Change, training &amp; rollout</c:v>
                </c:pt>
              </c:strCache>
            </c:strRef>
          </c:tx>
          <c:spPr>
            <a:solidFill>
              <a:srgbClr val="0CA1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Investment</c:v>
                  </c:pt>
                </c:lvl>
              </c:multiLvlStrCache>
            </c:multiLvlStrRef>
          </c:cat>
          <c:val>
            <c:numRef>
              <c:f>Sheet1!$H$2:$H$2</c:f>
              <c:numCache>
                <c:formatCode>General</c:formatCode>
                <c:ptCount val="1"/>
                <c:pt idx="0">
                  <c:v>0.45</c:v>
                </c:pt>
              </c:numCache>
            </c:numRef>
          </c:val>
        </c:ser>
        <c:ser>
          <c:idx val="7"/>
          <c:order val="7"/>
          <c:tx>
            <c:strRef>
              <c:f>Sheet1!$I$1</c:f>
              <c:strCache>
                <c:ptCount val="1"/>
                <c:pt idx="0">
                  <c:v>Hypercare &amp; benefits governance</c:v>
                </c:pt>
              </c:strCache>
            </c:strRef>
          </c:tx>
          <c:spPr>
            <a:solidFill>
              <a:srgbClr val="07ACB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Investment</c:v>
                  </c:pt>
                </c:lvl>
              </c:multiLvlStrCache>
            </c:multiLvlStrRef>
          </c:cat>
          <c:val>
            <c:numRef>
              <c:f>Sheet1!$I$2:$I$2</c:f>
              <c:numCache>
                <c:formatCode>General</c:formatCode>
                <c:ptCount val="1"/>
                <c:pt idx="0">
                  <c:v>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model treats Apex as a hypothetical company, so all commercial inputs are explicit assumptions rather than claimed historical facts. The base case requires ₹4.97 crore of staged investment and generates ₹23.54 crore of quantified five-year benefit before operating costs. After operating costs and build investment, the model produces ₹5.50 crore net benefit, ₹1.58 crore NPV at a 12% discount rate, 19.8% IRR, and 3.7-year payback. The most important point is not the exact number; it is the gated investment logic. Apex should not release the full amount upfront. It should fund mobilization, build, pilots, and enterprise rollout through decision gates, refreshing assumptions after the first pilot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11457432" cy="384048"/>
          </a:xfrm>
          <a:prstGeom prst="rect">
            <a:avLst/>
          </a:prstGeom>
          <a:noFill/>
          <a:ln/>
        </p:spPr>
        <p:txBody>
          <a:bodyPr wrap="square" lIns="0" tIns="0" rIns="0" bIns="0" rtlCol="0" anchor="ctr"/>
          <a:lstStyle/>
          <a:p>
            <a:pPr indent="0" marL="0">
              <a:buNone/>
            </a:pPr>
            <a:r>
              <a:rPr lang="en-US" sz="2400" b="1" dirty="0">
                <a:solidFill>
                  <a:srgbClr val="17252D"/>
                </a:solidFill>
                <a:latin typeface="Montserrat" pitchFamily="34" charset="0"/>
                <a:ea typeface="Montserrat" pitchFamily="34" charset="-122"/>
                <a:cs typeface="Montserrat" pitchFamily="34" charset="-120"/>
              </a:rPr>
              <a:t>Financial Case for POLARIS Cure-Pilotitis</a:t>
            </a:r>
            <a:endParaRPr lang="en-US" sz="2400" dirty="0"/>
          </a:p>
        </p:txBody>
      </p:sp>
      <p:sp>
        <p:nvSpPr>
          <p:cNvPr id="3" name="Text 1"/>
          <p:cNvSpPr/>
          <p:nvPr/>
        </p:nvSpPr>
        <p:spPr>
          <a:xfrm>
            <a:off x="365760" y="548640"/>
            <a:ext cx="11457432" cy="274320"/>
          </a:xfrm>
          <a:prstGeom prst="rect">
            <a:avLst/>
          </a:prstGeom>
          <a:noFill/>
          <a:ln/>
        </p:spPr>
        <p:txBody>
          <a:bodyPr wrap="square" lIns="0" tIns="0" rIns="0" bIns="0" rtlCol="0" anchor="ctr"/>
          <a:lstStyle/>
          <a:p>
            <a:pPr indent="0" marL="0">
              <a:buNone/>
            </a:pPr>
            <a:r>
              <a:rPr lang="en-US" sz="1400" i="1" dirty="0">
                <a:solidFill>
                  <a:srgbClr val="2B617A"/>
                </a:solidFill>
                <a:latin typeface="Montserrat" pitchFamily="34" charset="0"/>
                <a:ea typeface="Montserrat" pitchFamily="34" charset="-122"/>
                <a:cs typeface="Montserrat" pitchFamily="34" charset="-120"/>
              </a:rPr>
              <a:t>Fund the Scale Engine, Not Another Dashboard</a:t>
            </a:r>
            <a:endParaRPr lang="en-US" sz="1400" dirty="0"/>
          </a:p>
        </p:txBody>
      </p:sp>
      <p:sp>
        <p:nvSpPr>
          <p:cNvPr id="4" name="Shape 2"/>
          <p:cNvSpPr/>
          <p:nvPr/>
        </p:nvSpPr>
        <p:spPr>
          <a:xfrm>
            <a:off x="365760" y="896112"/>
            <a:ext cx="11457432" cy="512064"/>
          </a:xfrm>
          <a:prstGeom prst="roundRect">
            <a:avLst>
              <a:gd name="adj" fmla="val 14286"/>
            </a:avLst>
          </a:prstGeom>
          <a:solidFill>
            <a:srgbClr val="2B617A"/>
          </a:solidFill>
          <a:ln/>
        </p:spPr>
      </p:sp>
      <p:sp>
        <p:nvSpPr>
          <p:cNvPr id="5" name="Text 3"/>
          <p:cNvSpPr/>
          <p:nvPr/>
        </p:nvSpPr>
        <p:spPr>
          <a:xfrm>
            <a:off x="594360" y="896112"/>
            <a:ext cx="11000232" cy="512064"/>
          </a:xfrm>
          <a:prstGeom prst="rect">
            <a:avLst/>
          </a:prstGeom>
          <a:noFill/>
          <a:ln/>
        </p:spPr>
        <p:txBody>
          <a:bodyPr wrap="square" lIns="0" tIns="0" rIns="0" bIns="0" rtlCol="0" anchor="ctr"/>
          <a:lstStyle/>
          <a:p>
            <a:pPr indent="0" marL="0">
              <a:buNone/>
            </a:pPr>
            <a:r>
              <a:rPr lang="en-US" sz="1250" dirty="0">
                <a:solidFill>
                  <a:srgbClr val="FFFFFF"/>
                </a:solidFill>
                <a:latin typeface="Montserrat" pitchFamily="34" charset="0"/>
                <a:ea typeface="Montserrat" pitchFamily="34" charset="-122"/>
                <a:cs typeface="Montserrat" pitchFamily="34" charset="-120"/>
              </a:rPr>
              <a:t>A gated </a:t>
            </a:r>
            <a:pPr indent="0" marL="0">
              <a:buNone/>
            </a:pPr>
            <a:r>
              <a:rPr lang="en-US" sz="1250" b="1" dirty="0">
                <a:solidFill>
                  <a:srgbClr val="07ACBE"/>
                </a:solidFill>
                <a:latin typeface="Montserrat" pitchFamily="34" charset="0"/>
                <a:ea typeface="Montserrat" pitchFamily="34" charset="-122"/>
                <a:cs typeface="Montserrat" pitchFamily="34" charset="-120"/>
              </a:rPr>
              <a:t>₹4.97 crore</a:t>
            </a:r>
            <a:pPr indent="0" marL="0">
              <a:buNone/>
            </a:pPr>
            <a:r>
              <a:rPr lang="en-US" sz="1250" dirty="0">
                <a:solidFill>
                  <a:srgbClr val="FFFFFF"/>
                </a:solidFill>
                <a:latin typeface="Montserrat" pitchFamily="34" charset="0"/>
                <a:ea typeface="Montserrat" pitchFamily="34" charset="-122"/>
                <a:cs typeface="Montserrat" pitchFamily="34" charset="-120"/>
              </a:rPr>
              <a:t> investment can create a base-case </a:t>
            </a:r>
            <a:pPr indent="0" marL="0">
              <a:buNone/>
            </a:pPr>
            <a:r>
              <a:rPr lang="en-US" sz="1250" b="1" dirty="0">
                <a:solidFill>
                  <a:srgbClr val="07ACBE"/>
                </a:solidFill>
                <a:latin typeface="Montserrat" pitchFamily="34" charset="0"/>
                <a:ea typeface="Montserrat" pitchFamily="34" charset="-122"/>
                <a:cs typeface="Montserrat" pitchFamily="34" charset="-120"/>
              </a:rPr>
              <a:t>₹1.58 crore NPV</a:t>
            </a:r>
            <a:pPr indent="0" marL="0">
              <a:buNone/>
            </a:pPr>
            <a:r>
              <a:rPr lang="en-US" sz="1250" dirty="0">
                <a:solidFill>
                  <a:srgbClr val="FFFFFF"/>
                </a:solidFill>
                <a:latin typeface="Montserrat" pitchFamily="34" charset="0"/>
                <a:ea typeface="Montserrat" pitchFamily="34" charset="-122"/>
                <a:cs typeface="Montserrat" pitchFamily="34" charset="-120"/>
              </a:rPr>
              <a:t> and </a:t>
            </a:r>
            <a:pPr indent="0" marL="0">
              <a:buNone/>
            </a:pPr>
            <a:r>
              <a:rPr lang="en-US" sz="1250" b="1" dirty="0">
                <a:solidFill>
                  <a:srgbClr val="07ACBE"/>
                </a:solidFill>
                <a:latin typeface="Montserrat" pitchFamily="34" charset="0"/>
                <a:ea typeface="Montserrat" pitchFamily="34" charset="-122"/>
                <a:cs typeface="Montserrat" pitchFamily="34" charset="-120"/>
              </a:rPr>
              <a:t>19.8% IRR</a:t>
            </a:r>
            <a:pPr indent="0" marL="0">
              <a:buNone/>
            </a:pPr>
            <a:r>
              <a:rPr lang="en-US" sz="1250" dirty="0">
                <a:solidFill>
                  <a:srgbClr val="FFFFFF"/>
                </a:solidFill>
                <a:latin typeface="Montserrat" pitchFamily="34" charset="0"/>
                <a:ea typeface="Montserrat" pitchFamily="34" charset="-122"/>
                <a:cs typeface="Montserrat" pitchFamily="34" charset="-120"/>
              </a:rPr>
              <a:t> by improving pilot-to-scale conversion, reducing delay, and unlocking follow-on implementation value.</a:t>
            </a:r>
            <a:endParaRPr lang="en-US" sz="1250" dirty="0"/>
          </a:p>
        </p:txBody>
      </p:sp>
      <p:sp>
        <p:nvSpPr>
          <p:cNvPr id="6" name="Shape 4"/>
          <p:cNvSpPr/>
          <p:nvPr/>
        </p:nvSpPr>
        <p:spPr>
          <a:xfrm>
            <a:off x="365760" y="1517904"/>
            <a:ext cx="3703320" cy="1371600"/>
          </a:xfrm>
          <a:prstGeom prst="roundRect">
            <a:avLst>
              <a:gd name="adj" fmla="val 4667"/>
            </a:avLst>
          </a:prstGeom>
          <a:solidFill>
            <a:srgbClr val="E3E3E5"/>
          </a:solidFill>
          <a:ln/>
        </p:spPr>
      </p:sp>
      <p:sp>
        <p:nvSpPr>
          <p:cNvPr id="7" name="Text 5"/>
          <p:cNvSpPr/>
          <p:nvPr/>
        </p:nvSpPr>
        <p:spPr>
          <a:xfrm>
            <a:off x="530352" y="1636776"/>
            <a:ext cx="3374136" cy="237744"/>
          </a:xfrm>
          <a:prstGeom prst="rect">
            <a:avLst/>
          </a:prstGeom>
          <a:noFill/>
          <a:ln/>
        </p:spPr>
        <p:txBody>
          <a:bodyPr wrap="square" lIns="0" tIns="0" rIns="0" bIns="0" rtlCol="0" anchor="ctr"/>
          <a:lstStyle/>
          <a:p>
            <a:pPr indent="0" marL="0">
              <a:buNone/>
            </a:pPr>
            <a:r>
              <a:rPr lang="en-US" sz="1050" b="1" spc="100" kern="0" dirty="0">
                <a:solidFill>
                  <a:srgbClr val="07ACBE"/>
                </a:solidFill>
                <a:latin typeface="Montserrat" pitchFamily="34" charset="0"/>
                <a:ea typeface="Montserrat" pitchFamily="34" charset="-122"/>
                <a:cs typeface="Montserrat" pitchFamily="34" charset="-120"/>
              </a:rPr>
              <a:t>WHY INVEST</a:t>
            </a:r>
            <a:endParaRPr lang="en-US" sz="1050" dirty="0"/>
          </a:p>
        </p:txBody>
      </p:sp>
      <p:sp>
        <p:nvSpPr>
          <p:cNvPr id="8" name="Text 6"/>
          <p:cNvSpPr/>
          <p:nvPr/>
        </p:nvSpPr>
        <p:spPr>
          <a:xfrm>
            <a:off x="530352" y="1883664"/>
            <a:ext cx="3374136" cy="566928"/>
          </a:xfrm>
          <a:prstGeom prst="rect">
            <a:avLst/>
          </a:prstGeom>
          <a:noFill/>
          <a:ln/>
        </p:spPr>
        <p:txBody>
          <a:bodyPr wrap="square" lIns="0" tIns="0" rIns="0" bIns="0" rtlCol="0" anchor="ctr"/>
          <a:lstStyle/>
          <a:p>
            <a:pPr indent="0" marL="0">
              <a:lnSpc>
                <a:spcPct val="108000"/>
              </a:lnSpc>
              <a:buNone/>
            </a:pPr>
            <a:r>
              <a:rPr lang="en-US" sz="1000" dirty="0">
                <a:solidFill>
                  <a:srgbClr val="17252D"/>
                </a:solidFill>
                <a:latin typeface="Montserrat" pitchFamily="34" charset="0"/>
                <a:ea typeface="Montserrat" pitchFamily="34" charset="-122"/>
                <a:cs typeface="Montserrat" pitchFamily="34" charset="-120"/>
              </a:rPr>
              <a:t>POLARIS converts successful healthcare pilots into formal scale decisions, reducing stranded pilot value and creating implementation pull-through for Apex.</a:t>
            </a:r>
            <a:endParaRPr lang="en-US" sz="1000" dirty="0"/>
          </a:p>
        </p:txBody>
      </p:sp>
      <p:sp>
        <p:nvSpPr>
          <p:cNvPr id="9" name="Shape 7"/>
          <p:cNvSpPr/>
          <p:nvPr/>
        </p:nvSpPr>
        <p:spPr>
          <a:xfrm>
            <a:off x="530352" y="2487168"/>
            <a:ext cx="1063752" cy="329184"/>
          </a:xfrm>
          <a:prstGeom prst="roundRect">
            <a:avLst>
              <a:gd name="adj" fmla="val 13889"/>
            </a:avLst>
          </a:prstGeom>
          <a:solidFill>
            <a:srgbClr val="FFFFFF"/>
          </a:solidFill>
          <a:ln/>
          <a:effectLst>
            <a:outerShdw sx="100000" sy="100000" kx="0" ky="0" algn="bl" rotWithShape="0" blurRad="38100" dist="12700" dir="5400000">
              <a:srgbClr val="17252D">
                <a:alpha val="18000"/>
              </a:srgbClr>
            </a:outerShdw>
          </a:effectLst>
        </p:spPr>
      </p:sp>
      <p:sp>
        <p:nvSpPr>
          <p:cNvPr id="10" name="Text 8"/>
          <p:cNvSpPr/>
          <p:nvPr/>
        </p:nvSpPr>
        <p:spPr>
          <a:xfrm>
            <a:off x="530352" y="2505456"/>
            <a:ext cx="1063752" cy="173736"/>
          </a:xfrm>
          <a:prstGeom prst="rect">
            <a:avLst/>
          </a:prstGeom>
          <a:noFill/>
          <a:ln/>
        </p:spPr>
        <p:txBody>
          <a:bodyPr wrap="square" lIns="0" tIns="0" rIns="0" bIns="0" rtlCol="0" anchor="ctr"/>
          <a:lstStyle/>
          <a:p>
            <a:pPr algn="ctr" indent="0" marL="0">
              <a:buNone/>
            </a:pPr>
            <a:r>
              <a:rPr lang="en-US" sz="1050" b="1" dirty="0">
                <a:solidFill>
                  <a:srgbClr val="2B617A"/>
                </a:solidFill>
                <a:latin typeface="Montserrat" pitchFamily="34" charset="0"/>
                <a:ea typeface="Montserrat" pitchFamily="34" charset="-122"/>
                <a:cs typeface="Montserrat" pitchFamily="34" charset="-120"/>
              </a:rPr>
              <a:t>₹4.97 Cr</a:t>
            </a:r>
            <a:endParaRPr lang="en-US" sz="1050" dirty="0"/>
          </a:p>
        </p:txBody>
      </p:sp>
      <p:sp>
        <p:nvSpPr>
          <p:cNvPr id="11" name="Text 9"/>
          <p:cNvSpPr/>
          <p:nvPr/>
        </p:nvSpPr>
        <p:spPr>
          <a:xfrm>
            <a:off x="530352" y="2670048"/>
            <a:ext cx="1063752" cy="146304"/>
          </a:xfrm>
          <a:prstGeom prst="rect">
            <a:avLst/>
          </a:prstGeom>
          <a:noFill/>
          <a:ln/>
        </p:spPr>
        <p:txBody>
          <a:bodyPr wrap="square" lIns="0" tIns="0" rIns="0" bIns="0" rtlCol="0" anchor="ctr"/>
          <a:lstStyle/>
          <a:p>
            <a:pPr algn="ctr" indent="0" marL="0">
              <a:lnSpc>
                <a:spcPct val="90000"/>
              </a:lnSpc>
              <a:buNone/>
            </a:pPr>
            <a:r>
              <a:rPr lang="en-US" sz="630" dirty="0">
                <a:solidFill>
                  <a:srgbClr val="859EA7"/>
                </a:solidFill>
                <a:latin typeface="Montserrat" pitchFamily="34" charset="0"/>
                <a:ea typeface="Montserrat" pitchFamily="34" charset="-122"/>
                <a:cs typeface="Montserrat" pitchFamily="34" charset="-120"/>
              </a:rPr>
              <a:t>Implementation</a:t>
            </a:r>
            <a:endParaRPr lang="en-US" sz="630" dirty="0"/>
          </a:p>
          <a:p>
            <a:pPr algn="ctr" indent="0" marL="0">
              <a:lnSpc>
                <a:spcPct val="90000"/>
              </a:lnSpc>
              <a:buNone/>
            </a:pPr>
            <a:r>
              <a:rPr lang="en-US" sz="630" dirty="0">
                <a:solidFill>
                  <a:srgbClr val="859EA7"/>
                </a:solidFill>
                <a:latin typeface="Montserrat" pitchFamily="34" charset="0"/>
                <a:ea typeface="Montserrat" pitchFamily="34" charset="-122"/>
                <a:cs typeface="Montserrat" pitchFamily="34" charset="-120"/>
              </a:rPr>
              <a:t>investment</a:t>
            </a:r>
            <a:endParaRPr lang="en-US" sz="630" dirty="0"/>
          </a:p>
        </p:txBody>
      </p:sp>
      <p:sp>
        <p:nvSpPr>
          <p:cNvPr id="12" name="Shape 10"/>
          <p:cNvSpPr/>
          <p:nvPr/>
        </p:nvSpPr>
        <p:spPr>
          <a:xfrm>
            <a:off x="1685544" y="2487168"/>
            <a:ext cx="1063752" cy="329184"/>
          </a:xfrm>
          <a:prstGeom prst="roundRect">
            <a:avLst>
              <a:gd name="adj" fmla="val 13889"/>
            </a:avLst>
          </a:prstGeom>
          <a:solidFill>
            <a:srgbClr val="FFFFFF"/>
          </a:solidFill>
          <a:ln/>
          <a:effectLst>
            <a:outerShdw sx="100000" sy="100000" kx="0" ky="0" algn="bl" rotWithShape="0" blurRad="38100" dist="12700" dir="5400000">
              <a:srgbClr val="17252D">
                <a:alpha val="18000"/>
              </a:srgbClr>
            </a:outerShdw>
          </a:effectLst>
        </p:spPr>
      </p:sp>
      <p:sp>
        <p:nvSpPr>
          <p:cNvPr id="13" name="Text 11"/>
          <p:cNvSpPr/>
          <p:nvPr/>
        </p:nvSpPr>
        <p:spPr>
          <a:xfrm>
            <a:off x="1685544" y="2505456"/>
            <a:ext cx="1063752" cy="173736"/>
          </a:xfrm>
          <a:prstGeom prst="rect">
            <a:avLst/>
          </a:prstGeom>
          <a:noFill/>
          <a:ln/>
        </p:spPr>
        <p:txBody>
          <a:bodyPr wrap="square" lIns="0" tIns="0" rIns="0" bIns="0" rtlCol="0" anchor="ctr"/>
          <a:lstStyle/>
          <a:p>
            <a:pPr algn="ctr" indent="0" marL="0">
              <a:buNone/>
            </a:pPr>
            <a:r>
              <a:rPr lang="en-US" sz="1050" b="1" dirty="0">
                <a:solidFill>
                  <a:srgbClr val="2B617A"/>
                </a:solidFill>
                <a:latin typeface="Montserrat" pitchFamily="34" charset="0"/>
                <a:ea typeface="Montserrat" pitchFamily="34" charset="-122"/>
                <a:cs typeface="Montserrat" pitchFamily="34" charset="-120"/>
              </a:rPr>
              <a:t>₹23.54 Cr</a:t>
            </a:r>
            <a:endParaRPr lang="en-US" sz="1050" dirty="0"/>
          </a:p>
        </p:txBody>
      </p:sp>
      <p:sp>
        <p:nvSpPr>
          <p:cNvPr id="14" name="Text 12"/>
          <p:cNvSpPr/>
          <p:nvPr/>
        </p:nvSpPr>
        <p:spPr>
          <a:xfrm>
            <a:off x="1685544" y="2670048"/>
            <a:ext cx="1063752" cy="146304"/>
          </a:xfrm>
          <a:prstGeom prst="rect">
            <a:avLst/>
          </a:prstGeom>
          <a:noFill/>
          <a:ln/>
        </p:spPr>
        <p:txBody>
          <a:bodyPr wrap="square" lIns="0" tIns="0" rIns="0" bIns="0" rtlCol="0" anchor="ctr"/>
          <a:lstStyle/>
          <a:p>
            <a:pPr algn="ctr" indent="0" marL="0">
              <a:lnSpc>
                <a:spcPct val="90000"/>
              </a:lnSpc>
              <a:buNone/>
            </a:pPr>
            <a:r>
              <a:rPr lang="en-US" sz="630" dirty="0">
                <a:solidFill>
                  <a:srgbClr val="859EA7"/>
                </a:solidFill>
                <a:latin typeface="Montserrat" pitchFamily="34" charset="0"/>
                <a:ea typeface="Montserrat" pitchFamily="34" charset="-122"/>
                <a:cs typeface="Montserrat" pitchFamily="34" charset="-120"/>
              </a:rPr>
              <a:t>5-yr quantified</a:t>
            </a:r>
            <a:endParaRPr lang="en-US" sz="630" dirty="0"/>
          </a:p>
          <a:p>
            <a:pPr algn="ctr" indent="0" marL="0">
              <a:lnSpc>
                <a:spcPct val="90000"/>
              </a:lnSpc>
              <a:buNone/>
            </a:pPr>
            <a:r>
              <a:rPr lang="en-US" sz="630" dirty="0">
                <a:solidFill>
                  <a:srgbClr val="859EA7"/>
                </a:solidFill>
                <a:latin typeface="Montserrat" pitchFamily="34" charset="0"/>
                <a:ea typeface="Montserrat" pitchFamily="34" charset="-122"/>
                <a:cs typeface="Montserrat" pitchFamily="34" charset="-120"/>
              </a:rPr>
              <a:t>benefits</a:t>
            </a:r>
            <a:endParaRPr lang="en-US" sz="630" dirty="0"/>
          </a:p>
        </p:txBody>
      </p:sp>
      <p:sp>
        <p:nvSpPr>
          <p:cNvPr id="15" name="Shape 13"/>
          <p:cNvSpPr/>
          <p:nvPr/>
        </p:nvSpPr>
        <p:spPr>
          <a:xfrm>
            <a:off x="2840736" y="2487168"/>
            <a:ext cx="1063752" cy="329184"/>
          </a:xfrm>
          <a:prstGeom prst="roundRect">
            <a:avLst>
              <a:gd name="adj" fmla="val 13889"/>
            </a:avLst>
          </a:prstGeom>
          <a:solidFill>
            <a:srgbClr val="FFFFFF"/>
          </a:solidFill>
          <a:ln/>
          <a:effectLst>
            <a:outerShdw sx="100000" sy="100000" kx="0" ky="0" algn="bl" rotWithShape="0" blurRad="38100" dist="12700" dir="5400000">
              <a:srgbClr val="17252D">
                <a:alpha val="18000"/>
              </a:srgbClr>
            </a:outerShdw>
          </a:effectLst>
        </p:spPr>
      </p:sp>
      <p:sp>
        <p:nvSpPr>
          <p:cNvPr id="16" name="Text 14"/>
          <p:cNvSpPr/>
          <p:nvPr/>
        </p:nvSpPr>
        <p:spPr>
          <a:xfrm>
            <a:off x="2840736" y="2505456"/>
            <a:ext cx="1063752" cy="173736"/>
          </a:xfrm>
          <a:prstGeom prst="rect">
            <a:avLst/>
          </a:prstGeom>
          <a:noFill/>
          <a:ln/>
        </p:spPr>
        <p:txBody>
          <a:bodyPr wrap="square" lIns="0" tIns="0" rIns="0" bIns="0" rtlCol="0" anchor="ctr"/>
          <a:lstStyle/>
          <a:p>
            <a:pPr algn="ctr" indent="0" marL="0">
              <a:buNone/>
            </a:pPr>
            <a:r>
              <a:rPr lang="en-US" sz="1050" b="1" dirty="0">
                <a:solidFill>
                  <a:srgbClr val="2B617A"/>
                </a:solidFill>
                <a:latin typeface="Montserrat" pitchFamily="34" charset="0"/>
                <a:ea typeface="Montserrat" pitchFamily="34" charset="-122"/>
                <a:cs typeface="Montserrat" pitchFamily="34" charset="-120"/>
              </a:rPr>
              <a:t>₹1.58 Cr</a:t>
            </a:r>
            <a:endParaRPr lang="en-US" sz="1050" dirty="0"/>
          </a:p>
        </p:txBody>
      </p:sp>
      <p:sp>
        <p:nvSpPr>
          <p:cNvPr id="17" name="Text 15"/>
          <p:cNvSpPr/>
          <p:nvPr/>
        </p:nvSpPr>
        <p:spPr>
          <a:xfrm>
            <a:off x="2840736" y="2670048"/>
            <a:ext cx="1063752" cy="146304"/>
          </a:xfrm>
          <a:prstGeom prst="rect">
            <a:avLst/>
          </a:prstGeom>
          <a:noFill/>
          <a:ln/>
        </p:spPr>
        <p:txBody>
          <a:bodyPr wrap="square" lIns="0" tIns="0" rIns="0" bIns="0" rtlCol="0" anchor="ctr"/>
          <a:lstStyle/>
          <a:p>
            <a:pPr algn="ctr" indent="0" marL="0">
              <a:lnSpc>
                <a:spcPct val="90000"/>
              </a:lnSpc>
              <a:buNone/>
            </a:pPr>
            <a:r>
              <a:rPr lang="en-US" sz="630" dirty="0">
                <a:solidFill>
                  <a:srgbClr val="859EA7"/>
                </a:solidFill>
                <a:latin typeface="Montserrat" pitchFamily="34" charset="0"/>
                <a:ea typeface="Montserrat" pitchFamily="34" charset="-122"/>
                <a:cs typeface="Montserrat" pitchFamily="34" charset="-120"/>
              </a:rPr>
              <a:t>Base-case</a:t>
            </a:r>
            <a:endParaRPr lang="en-US" sz="630" dirty="0"/>
          </a:p>
          <a:p>
            <a:pPr algn="ctr" indent="0" marL="0">
              <a:lnSpc>
                <a:spcPct val="90000"/>
              </a:lnSpc>
              <a:buNone/>
            </a:pPr>
            <a:r>
              <a:rPr lang="en-US" sz="630" dirty="0">
                <a:solidFill>
                  <a:srgbClr val="859EA7"/>
                </a:solidFill>
                <a:latin typeface="Montserrat" pitchFamily="34" charset="0"/>
                <a:ea typeface="Montserrat" pitchFamily="34" charset="-122"/>
                <a:cs typeface="Montserrat" pitchFamily="34" charset="-120"/>
              </a:rPr>
              <a:t>NPV</a:t>
            </a:r>
            <a:endParaRPr lang="en-US" sz="630" dirty="0"/>
          </a:p>
        </p:txBody>
      </p:sp>
      <p:sp>
        <p:nvSpPr>
          <p:cNvPr id="18" name="Text 16"/>
          <p:cNvSpPr/>
          <p:nvPr/>
        </p:nvSpPr>
        <p:spPr>
          <a:xfrm>
            <a:off x="365760" y="3035808"/>
            <a:ext cx="3703320" cy="237744"/>
          </a:xfrm>
          <a:prstGeom prst="rect">
            <a:avLst/>
          </a:prstGeom>
          <a:noFill/>
          <a:ln/>
        </p:spPr>
        <p:txBody>
          <a:bodyPr wrap="square" lIns="0" tIns="0" rIns="0" bIns="0" rtlCol="0" anchor="ctr"/>
          <a:lstStyle/>
          <a:p>
            <a:pPr indent="0" marL="0">
              <a:buNone/>
            </a:pPr>
            <a:r>
              <a:rPr lang="en-US" sz="1050" b="1" spc="100" kern="0" dirty="0">
                <a:solidFill>
                  <a:srgbClr val="2B617A"/>
                </a:solidFill>
                <a:latin typeface="Montserrat" pitchFamily="34" charset="0"/>
                <a:ea typeface="Montserrat" pitchFamily="34" charset="-122"/>
                <a:cs typeface="Montserrat" pitchFamily="34" charset="-120"/>
              </a:rPr>
              <a:t>WHERE THE ₹4.97 CR GOES</a:t>
            </a:r>
            <a:endParaRPr lang="en-US" sz="1050" dirty="0"/>
          </a:p>
        </p:txBody>
      </p:sp>
      <p:graphicFrame>
        <p:nvGraphicFramePr>
          <p:cNvPr id="19" name="Chart 0" descr=""/>
          <p:cNvGraphicFramePr/>
          <p:nvPr/>
        </p:nvGraphicFramePr>
        <p:xfrm>
          <a:off x="365760" y="3291840"/>
          <a:ext cx="3703320" cy="45720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365760" y="3849624"/>
            <a:ext cx="100584" cy="100584"/>
          </a:xfrm>
          <a:prstGeom prst="rect">
            <a:avLst/>
          </a:prstGeom>
          <a:solidFill>
            <a:srgbClr val="2B617A"/>
          </a:solidFill>
          <a:ln/>
        </p:spPr>
      </p:sp>
      <p:sp>
        <p:nvSpPr>
          <p:cNvPr id="21" name="Text 18"/>
          <p:cNvSpPr/>
          <p:nvPr/>
        </p:nvSpPr>
        <p:spPr>
          <a:xfrm>
            <a:off x="530352" y="3803904"/>
            <a:ext cx="2743200" cy="175565"/>
          </a:xfrm>
          <a:prstGeom prst="rect">
            <a:avLst/>
          </a:prstGeom>
          <a:noFill/>
          <a:ln/>
        </p:spPr>
        <p:txBody>
          <a:bodyPr wrap="square" lIns="0" tIns="0" rIns="0" bIns="0" rtlCol="0" anchor="ctr"/>
          <a:lstStyle/>
          <a:p>
            <a:pPr indent="0" marL="0">
              <a:buNone/>
            </a:pPr>
            <a:r>
              <a:rPr lang="en-US" sz="760" dirty="0">
                <a:solidFill>
                  <a:srgbClr val="17252D"/>
                </a:solidFill>
                <a:latin typeface="Montserrat" pitchFamily="34" charset="0"/>
                <a:ea typeface="Montserrat" pitchFamily="34" charset="-122"/>
                <a:cs typeface="Montserrat" pitchFamily="34" charset="-120"/>
              </a:rPr>
              <a:t>Mobilization &amp; strategy design</a:t>
            </a:r>
            <a:endParaRPr lang="en-US" sz="760" dirty="0"/>
          </a:p>
        </p:txBody>
      </p:sp>
      <p:sp>
        <p:nvSpPr>
          <p:cNvPr id="22" name="Text 19"/>
          <p:cNvSpPr/>
          <p:nvPr/>
        </p:nvSpPr>
        <p:spPr>
          <a:xfrm>
            <a:off x="3264408" y="3803904"/>
            <a:ext cx="804672" cy="175565"/>
          </a:xfrm>
          <a:prstGeom prst="rect">
            <a:avLst/>
          </a:prstGeom>
          <a:noFill/>
          <a:ln/>
        </p:spPr>
        <p:txBody>
          <a:bodyPr wrap="square" lIns="0" tIns="0" rIns="0" bIns="0" rtlCol="0" anchor="ctr"/>
          <a:lstStyle/>
          <a:p>
            <a:pPr algn="r" indent="0" marL="0">
              <a:buNone/>
            </a:pPr>
            <a:r>
              <a:rPr lang="en-US" sz="760" b="1" dirty="0">
                <a:solidFill>
                  <a:srgbClr val="2B617A"/>
                </a:solidFill>
                <a:latin typeface="Montserrat" pitchFamily="34" charset="0"/>
                <a:ea typeface="Montserrat" pitchFamily="34" charset="-122"/>
                <a:cs typeface="Montserrat" pitchFamily="34" charset="-120"/>
              </a:rPr>
              <a:t>₹0.42 Cr</a:t>
            </a:r>
            <a:endParaRPr lang="en-US" sz="760" dirty="0"/>
          </a:p>
        </p:txBody>
      </p:sp>
      <p:sp>
        <p:nvSpPr>
          <p:cNvPr id="23" name="Shape 20"/>
          <p:cNvSpPr/>
          <p:nvPr/>
        </p:nvSpPr>
        <p:spPr>
          <a:xfrm>
            <a:off x="365760" y="4025189"/>
            <a:ext cx="100584" cy="100584"/>
          </a:xfrm>
          <a:prstGeom prst="rect">
            <a:avLst/>
          </a:prstGeom>
          <a:solidFill>
            <a:srgbClr val="266C84"/>
          </a:solidFill>
          <a:ln/>
        </p:spPr>
      </p:sp>
      <p:sp>
        <p:nvSpPr>
          <p:cNvPr id="24" name="Text 21"/>
          <p:cNvSpPr/>
          <p:nvPr/>
        </p:nvSpPr>
        <p:spPr>
          <a:xfrm>
            <a:off x="530352" y="3979469"/>
            <a:ext cx="2743200" cy="175565"/>
          </a:xfrm>
          <a:prstGeom prst="rect">
            <a:avLst/>
          </a:prstGeom>
          <a:noFill/>
          <a:ln/>
        </p:spPr>
        <p:txBody>
          <a:bodyPr wrap="square" lIns="0" tIns="0" rIns="0" bIns="0" rtlCol="0" anchor="ctr"/>
          <a:lstStyle/>
          <a:p>
            <a:pPr indent="0" marL="0">
              <a:buNone/>
            </a:pPr>
            <a:r>
              <a:rPr lang="en-US" sz="760" dirty="0">
                <a:solidFill>
                  <a:srgbClr val="17252D"/>
                </a:solidFill>
                <a:latin typeface="Montserrat" pitchFamily="34" charset="0"/>
                <a:ea typeface="Montserrat" pitchFamily="34" charset="-122"/>
                <a:cs typeface="Montserrat" pitchFamily="34" charset="-120"/>
              </a:rPr>
              <a:t>Core platform build</a:t>
            </a:r>
            <a:endParaRPr lang="en-US" sz="760" dirty="0"/>
          </a:p>
        </p:txBody>
      </p:sp>
      <p:sp>
        <p:nvSpPr>
          <p:cNvPr id="25" name="Text 22"/>
          <p:cNvSpPr/>
          <p:nvPr/>
        </p:nvSpPr>
        <p:spPr>
          <a:xfrm>
            <a:off x="3264408" y="3979469"/>
            <a:ext cx="804672" cy="175565"/>
          </a:xfrm>
          <a:prstGeom prst="rect">
            <a:avLst/>
          </a:prstGeom>
          <a:noFill/>
          <a:ln/>
        </p:spPr>
        <p:txBody>
          <a:bodyPr wrap="square" lIns="0" tIns="0" rIns="0" bIns="0" rtlCol="0" anchor="ctr"/>
          <a:lstStyle/>
          <a:p>
            <a:pPr algn="r" indent="0" marL="0">
              <a:buNone/>
            </a:pPr>
            <a:r>
              <a:rPr lang="en-US" sz="760" b="1" dirty="0">
                <a:solidFill>
                  <a:srgbClr val="2B617A"/>
                </a:solidFill>
                <a:latin typeface="Montserrat" pitchFamily="34" charset="0"/>
                <a:ea typeface="Montserrat" pitchFamily="34" charset="-122"/>
                <a:cs typeface="Montserrat" pitchFamily="34" charset="-120"/>
              </a:rPr>
              <a:t>₹1.25 Cr</a:t>
            </a:r>
            <a:endParaRPr lang="en-US" sz="760" dirty="0"/>
          </a:p>
        </p:txBody>
      </p:sp>
      <p:sp>
        <p:nvSpPr>
          <p:cNvPr id="26" name="Shape 23"/>
          <p:cNvSpPr/>
          <p:nvPr/>
        </p:nvSpPr>
        <p:spPr>
          <a:xfrm>
            <a:off x="365760" y="4200754"/>
            <a:ext cx="100584" cy="100584"/>
          </a:xfrm>
          <a:prstGeom prst="rect">
            <a:avLst/>
          </a:prstGeom>
          <a:solidFill>
            <a:srgbClr val="21768D"/>
          </a:solidFill>
          <a:ln/>
        </p:spPr>
      </p:sp>
      <p:sp>
        <p:nvSpPr>
          <p:cNvPr id="27" name="Text 24"/>
          <p:cNvSpPr/>
          <p:nvPr/>
        </p:nvSpPr>
        <p:spPr>
          <a:xfrm>
            <a:off x="530352" y="4155034"/>
            <a:ext cx="2743200" cy="175565"/>
          </a:xfrm>
          <a:prstGeom prst="rect">
            <a:avLst/>
          </a:prstGeom>
          <a:noFill/>
          <a:ln/>
        </p:spPr>
        <p:txBody>
          <a:bodyPr wrap="square" lIns="0" tIns="0" rIns="0" bIns="0" rtlCol="0" anchor="ctr"/>
          <a:lstStyle/>
          <a:p>
            <a:pPr indent="0" marL="0">
              <a:buNone/>
            </a:pPr>
            <a:r>
              <a:rPr lang="en-US" sz="760" dirty="0">
                <a:solidFill>
                  <a:srgbClr val="17252D"/>
                </a:solidFill>
                <a:latin typeface="Montserrat" pitchFamily="34" charset="0"/>
                <a:ea typeface="Montserrat" pitchFamily="34" charset="-122"/>
                <a:cs typeface="Montserrat" pitchFamily="34" charset="-120"/>
              </a:rPr>
              <a:t>Analytics, ESRS &amp; AI controls</a:t>
            </a:r>
            <a:endParaRPr lang="en-US" sz="760" dirty="0"/>
          </a:p>
        </p:txBody>
      </p:sp>
      <p:sp>
        <p:nvSpPr>
          <p:cNvPr id="28" name="Text 25"/>
          <p:cNvSpPr/>
          <p:nvPr/>
        </p:nvSpPr>
        <p:spPr>
          <a:xfrm>
            <a:off x="3264408" y="4155034"/>
            <a:ext cx="804672" cy="175565"/>
          </a:xfrm>
          <a:prstGeom prst="rect">
            <a:avLst/>
          </a:prstGeom>
          <a:noFill/>
          <a:ln/>
        </p:spPr>
        <p:txBody>
          <a:bodyPr wrap="square" lIns="0" tIns="0" rIns="0" bIns="0" rtlCol="0" anchor="ctr"/>
          <a:lstStyle/>
          <a:p>
            <a:pPr algn="r" indent="0" marL="0">
              <a:buNone/>
            </a:pPr>
            <a:r>
              <a:rPr lang="en-US" sz="760" b="1" dirty="0">
                <a:solidFill>
                  <a:srgbClr val="2B617A"/>
                </a:solidFill>
                <a:latin typeface="Montserrat" pitchFamily="34" charset="0"/>
                <a:ea typeface="Montserrat" pitchFamily="34" charset="-122"/>
                <a:cs typeface="Montserrat" pitchFamily="34" charset="-120"/>
              </a:rPr>
              <a:t>₹0.82 Cr</a:t>
            </a:r>
            <a:endParaRPr lang="en-US" sz="760" dirty="0"/>
          </a:p>
        </p:txBody>
      </p:sp>
      <p:sp>
        <p:nvSpPr>
          <p:cNvPr id="29" name="Shape 26"/>
          <p:cNvSpPr/>
          <p:nvPr/>
        </p:nvSpPr>
        <p:spPr>
          <a:xfrm>
            <a:off x="365760" y="4376318"/>
            <a:ext cx="100584" cy="100584"/>
          </a:xfrm>
          <a:prstGeom prst="rect">
            <a:avLst/>
          </a:prstGeom>
          <a:solidFill>
            <a:srgbClr val="1C8197"/>
          </a:solidFill>
          <a:ln/>
        </p:spPr>
      </p:sp>
      <p:sp>
        <p:nvSpPr>
          <p:cNvPr id="30" name="Text 27"/>
          <p:cNvSpPr/>
          <p:nvPr/>
        </p:nvSpPr>
        <p:spPr>
          <a:xfrm>
            <a:off x="530352" y="4330598"/>
            <a:ext cx="2743200" cy="175565"/>
          </a:xfrm>
          <a:prstGeom prst="rect">
            <a:avLst/>
          </a:prstGeom>
          <a:noFill/>
          <a:ln/>
        </p:spPr>
        <p:txBody>
          <a:bodyPr wrap="square" lIns="0" tIns="0" rIns="0" bIns="0" rtlCol="0" anchor="ctr"/>
          <a:lstStyle/>
          <a:p>
            <a:pPr indent="0" marL="0">
              <a:buNone/>
            </a:pPr>
            <a:r>
              <a:rPr lang="en-US" sz="760" dirty="0">
                <a:solidFill>
                  <a:srgbClr val="17252D"/>
                </a:solidFill>
                <a:latin typeface="Montserrat" pitchFamily="34" charset="0"/>
                <a:ea typeface="Montserrat" pitchFamily="34" charset="-122"/>
                <a:cs typeface="Montserrat" pitchFamily="34" charset="-120"/>
              </a:rPr>
              <a:t>Security, privacy &amp; assurance</a:t>
            </a:r>
            <a:endParaRPr lang="en-US" sz="760" dirty="0"/>
          </a:p>
        </p:txBody>
      </p:sp>
      <p:sp>
        <p:nvSpPr>
          <p:cNvPr id="31" name="Text 28"/>
          <p:cNvSpPr/>
          <p:nvPr/>
        </p:nvSpPr>
        <p:spPr>
          <a:xfrm>
            <a:off x="3264408" y="4330598"/>
            <a:ext cx="804672" cy="175565"/>
          </a:xfrm>
          <a:prstGeom prst="rect">
            <a:avLst/>
          </a:prstGeom>
          <a:noFill/>
          <a:ln/>
        </p:spPr>
        <p:txBody>
          <a:bodyPr wrap="square" lIns="0" tIns="0" rIns="0" bIns="0" rtlCol="0" anchor="ctr"/>
          <a:lstStyle/>
          <a:p>
            <a:pPr algn="r" indent="0" marL="0">
              <a:buNone/>
            </a:pPr>
            <a:r>
              <a:rPr lang="en-US" sz="760" b="1" dirty="0">
                <a:solidFill>
                  <a:srgbClr val="2B617A"/>
                </a:solidFill>
                <a:latin typeface="Montserrat" pitchFamily="34" charset="0"/>
                <a:ea typeface="Montserrat" pitchFamily="34" charset="-122"/>
                <a:cs typeface="Montserrat" pitchFamily="34" charset="-120"/>
              </a:rPr>
              <a:t>₹0.56 Cr</a:t>
            </a:r>
            <a:endParaRPr lang="en-US" sz="760" dirty="0"/>
          </a:p>
        </p:txBody>
      </p:sp>
      <p:sp>
        <p:nvSpPr>
          <p:cNvPr id="32" name="Shape 29"/>
          <p:cNvSpPr/>
          <p:nvPr/>
        </p:nvSpPr>
        <p:spPr>
          <a:xfrm>
            <a:off x="365760" y="4551883"/>
            <a:ext cx="100584" cy="100584"/>
          </a:xfrm>
          <a:prstGeom prst="rect">
            <a:avLst/>
          </a:prstGeom>
          <a:solidFill>
            <a:srgbClr val="168CA1"/>
          </a:solidFill>
          <a:ln/>
        </p:spPr>
      </p:sp>
      <p:sp>
        <p:nvSpPr>
          <p:cNvPr id="33" name="Text 30"/>
          <p:cNvSpPr/>
          <p:nvPr/>
        </p:nvSpPr>
        <p:spPr>
          <a:xfrm>
            <a:off x="530352" y="4506163"/>
            <a:ext cx="2743200" cy="175565"/>
          </a:xfrm>
          <a:prstGeom prst="rect">
            <a:avLst/>
          </a:prstGeom>
          <a:noFill/>
          <a:ln/>
        </p:spPr>
        <p:txBody>
          <a:bodyPr wrap="square" lIns="0" tIns="0" rIns="0" bIns="0" rtlCol="0" anchor="ctr"/>
          <a:lstStyle/>
          <a:p>
            <a:pPr indent="0" marL="0">
              <a:buNone/>
            </a:pPr>
            <a:r>
              <a:rPr lang="en-US" sz="760" dirty="0">
                <a:solidFill>
                  <a:srgbClr val="17252D"/>
                </a:solidFill>
                <a:latin typeface="Montserrat" pitchFamily="34" charset="0"/>
                <a:ea typeface="Montserrat" pitchFamily="34" charset="-122"/>
                <a:cs typeface="Montserrat" pitchFamily="34" charset="-120"/>
              </a:rPr>
              <a:t>Integrations &amp; data foundations</a:t>
            </a:r>
            <a:endParaRPr lang="en-US" sz="760" dirty="0"/>
          </a:p>
        </p:txBody>
      </p:sp>
      <p:sp>
        <p:nvSpPr>
          <p:cNvPr id="34" name="Text 31"/>
          <p:cNvSpPr/>
          <p:nvPr/>
        </p:nvSpPr>
        <p:spPr>
          <a:xfrm>
            <a:off x="3264408" y="4506163"/>
            <a:ext cx="804672" cy="175565"/>
          </a:xfrm>
          <a:prstGeom prst="rect">
            <a:avLst/>
          </a:prstGeom>
          <a:noFill/>
          <a:ln/>
        </p:spPr>
        <p:txBody>
          <a:bodyPr wrap="square" lIns="0" tIns="0" rIns="0" bIns="0" rtlCol="0" anchor="ctr"/>
          <a:lstStyle/>
          <a:p>
            <a:pPr algn="r" indent="0" marL="0">
              <a:buNone/>
            </a:pPr>
            <a:r>
              <a:rPr lang="en-US" sz="760" b="1" dirty="0">
                <a:solidFill>
                  <a:srgbClr val="2B617A"/>
                </a:solidFill>
                <a:latin typeface="Montserrat" pitchFamily="34" charset="0"/>
                <a:ea typeface="Montserrat" pitchFamily="34" charset="-122"/>
                <a:cs typeface="Montserrat" pitchFamily="34" charset="-120"/>
              </a:rPr>
              <a:t>₹0.72 Cr</a:t>
            </a:r>
            <a:endParaRPr lang="en-US" sz="760" dirty="0"/>
          </a:p>
        </p:txBody>
      </p:sp>
      <p:sp>
        <p:nvSpPr>
          <p:cNvPr id="35" name="Shape 32"/>
          <p:cNvSpPr/>
          <p:nvPr/>
        </p:nvSpPr>
        <p:spPr>
          <a:xfrm>
            <a:off x="365760" y="4727448"/>
            <a:ext cx="100584" cy="100584"/>
          </a:xfrm>
          <a:prstGeom prst="rect">
            <a:avLst/>
          </a:prstGeom>
          <a:solidFill>
            <a:srgbClr val="1197AB"/>
          </a:solidFill>
          <a:ln/>
        </p:spPr>
      </p:sp>
      <p:sp>
        <p:nvSpPr>
          <p:cNvPr id="36" name="Text 33"/>
          <p:cNvSpPr/>
          <p:nvPr/>
        </p:nvSpPr>
        <p:spPr>
          <a:xfrm>
            <a:off x="530352" y="4681728"/>
            <a:ext cx="2743200" cy="175565"/>
          </a:xfrm>
          <a:prstGeom prst="rect">
            <a:avLst/>
          </a:prstGeom>
          <a:noFill/>
          <a:ln/>
        </p:spPr>
        <p:txBody>
          <a:bodyPr wrap="square" lIns="0" tIns="0" rIns="0" bIns="0" rtlCol="0" anchor="ctr"/>
          <a:lstStyle/>
          <a:p>
            <a:pPr indent="0" marL="0">
              <a:buNone/>
            </a:pPr>
            <a:r>
              <a:rPr lang="en-US" sz="760" dirty="0">
                <a:solidFill>
                  <a:srgbClr val="17252D"/>
                </a:solidFill>
                <a:latin typeface="Montserrat" pitchFamily="34" charset="0"/>
                <a:ea typeface="Montserrat" pitchFamily="34" charset="-122"/>
                <a:cs typeface="Montserrat" pitchFamily="34" charset="-120"/>
              </a:rPr>
              <a:t>Pilot deployments &amp; testing</a:t>
            </a:r>
            <a:endParaRPr lang="en-US" sz="760" dirty="0"/>
          </a:p>
        </p:txBody>
      </p:sp>
      <p:sp>
        <p:nvSpPr>
          <p:cNvPr id="37" name="Text 34"/>
          <p:cNvSpPr/>
          <p:nvPr/>
        </p:nvSpPr>
        <p:spPr>
          <a:xfrm>
            <a:off x="3264408" y="4681728"/>
            <a:ext cx="804672" cy="175565"/>
          </a:xfrm>
          <a:prstGeom prst="rect">
            <a:avLst/>
          </a:prstGeom>
          <a:noFill/>
          <a:ln/>
        </p:spPr>
        <p:txBody>
          <a:bodyPr wrap="square" lIns="0" tIns="0" rIns="0" bIns="0" rtlCol="0" anchor="ctr"/>
          <a:lstStyle/>
          <a:p>
            <a:pPr algn="r" indent="0" marL="0">
              <a:buNone/>
            </a:pPr>
            <a:r>
              <a:rPr lang="en-US" sz="760" b="1" dirty="0">
                <a:solidFill>
                  <a:srgbClr val="2B617A"/>
                </a:solidFill>
                <a:latin typeface="Montserrat" pitchFamily="34" charset="0"/>
                <a:ea typeface="Montserrat" pitchFamily="34" charset="-122"/>
                <a:cs typeface="Montserrat" pitchFamily="34" charset="-120"/>
              </a:rPr>
              <a:t>₹0.55 Cr</a:t>
            </a:r>
            <a:endParaRPr lang="en-US" sz="760" dirty="0"/>
          </a:p>
        </p:txBody>
      </p:sp>
      <p:sp>
        <p:nvSpPr>
          <p:cNvPr id="38" name="Shape 35"/>
          <p:cNvSpPr/>
          <p:nvPr/>
        </p:nvSpPr>
        <p:spPr>
          <a:xfrm>
            <a:off x="365760" y="4903013"/>
            <a:ext cx="100584" cy="100584"/>
          </a:xfrm>
          <a:prstGeom prst="rect">
            <a:avLst/>
          </a:prstGeom>
          <a:solidFill>
            <a:srgbClr val="0CA1B4"/>
          </a:solidFill>
          <a:ln/>
        </p:spPr>
      </p:sp>
      <p:sp>
        <p:nvSpPr>
          <p:cNvPr id="39" name="Text 36"/>
          <p:cNvSpPr/>
          <p:nvPr/>
        </p:nvSpPr>
        <p:spPr>
          <a:xfrm>
            <a:off x="530352" y="4857293"/>
            <a:ext cx="2743200" cy="175565"/>
          </a:xfrm>
          <a:prstGeom prst="rect">
            <a:avLst/>
          </a:prstGeom>
          <a:noFill/>
          <a:ln/>
        </p:spPr>
        <p:txBody>
          <a:bodyPr wrap="square" lIns="0" tIns="0" rIns="0" bIns="0" rtlCol="0" anchor="ctr"/>
          <a:lstStyle/>
          <a:p>
            <a:pPr indent="0" marL="0">
              <a:buNone/>
            </a:pPr>
            <a:r>
              <a:rPr lang="en-US" sz="760" dirty="0">
                <a:solidFill>
                  <a:srgbClr val="17252D"/>
                </a:solidFill>
                <a:latin typeface="Montserrat" pitchFamily="34" charset="0"/>
                <a:ea typeface="Montserrat" pitchFamily="34" charset="-122"/>
                <a:cs typeface="Montserrat" pitchFamily="34" charset="-120"/>
              </a:rPr>
              <a:t>Change, training &amp; rollout</a:t>
            </a:r>
            <a:endParaRPr lang="en-US" sz="760" dirty="0"/>
          </a:p>
        </p:txBody>
      </p:sp>
      <p:sp>
        <p:nvSpPr>
          <p:cNvPr id="40" name="Text 37"/>
          <p:cNvSpPr/>
          <p:nvPr/>
        </p:nvSpPr>
        <p:spPr>
          <a:xfrm>
            <a:off x="3264408" y="4857293"/>
            <a:ext cx="804672" cy="175565"/>
          </a:xfrm>
          <a:prstGeom prst="rect">
            <a:avLst/>
          </a:prstGeom>
          <a:noFill/>
          <a:ln/>
        </p:spPr>
        <p:txBody>
          <a:bodyPr wrap="square" lIns="0" tIns="0" rIns="0" bIns="0" rtlCol="0" anchor="ctr"/>
          <a:lstStyle/>
          <a:p>
            <a:pPr algn="r" indent="0" marL="0">
              <a:buNone/>
            </a:pPr>
            <a:r>
              <a:rPr lang="en-US" sz="760" b="1" dirty="0">
                <a:solidFill>
                  <a:srgbClr val="2B617A"/>
                </a:solidFill>
                <a:latin typeface="Montserrat" pitchFamily="34" charset="0"/>
                <a:ea typeface="Montserrat" pitchFamily="34" charset="-122"/>
                <a:cs typeface="Montserrat" pitchFamily="34" charset="-120"/>
              </a:rPr>
              <a:t>₹0.45 Cr</a:t>
            </a:r>
            <a:endParaRPr lang="en-US" sz="760" dirty="0"/>
          </a:p>
        </p:txBody>
      </p:sp>
      <p:sp>
        <p:nvSpPr>
          <p:cNvPr id="41" name="Shape 38"/>
          <p:cNvSpPr/>
          <p:nvPr/>
        </p:nvSpPr>
        <p:spPr>
          <a:xfrm>
            <a:off x="365760" y="5078578"/>
            <a:ext cx="100584" cy="100584"/>
          </a:xfrm>
          <a:prstGeom prst="rect">
            <a:avLst/>
          </a:prstGeom>
          <a:solidFill>
            <a:srgbClr val="07ACBE"/>
          </a:solidFill>
          <a:ln/>
        </p:spPr>
      </p:sp>
      <p:sp>
        <p:nvSpPr>
          <p:cNvPr id="42" name="Text 39"/>
          <p:cNvSpPr/>
          <p:nvPr/>
        </p:nvSpPr>
        <p:spPr>
          <a:xfrm>
            <a:off x="530352" y="5032858"/>
            <a:ext cx="2743200" cy="175565"/>
          </a:xfrm>
          <a:prstGeom prst="rect">
            <a:avLst/>
          </a:prstGeom>
          <a:noFill/>
          <a:ln/>
        </p:spPr>
        <p:txBody>
          <a:bodyPr wrap="square" lIns="0" tIns="0" rIns="0" bIns="0" rtlCol="0" anchor="ctr"/>
          <a:lstStyle/>
          <a:p>
            <a:pPr indent="0" marL="0">
              <a:buNone/>
            </a:pPr>
            <a:r>
              <a:rPr lang="en-US" sz="760" dirty="0">
                <a:solidFill>
                  <a:srgbClr val="17252D"/>
                </a:solidFill>
                <a:latin typeface="Montserrat" pitchFamily="34" charset="0"/>
                <a:ea typeface="Montserrat" pitchFamily="34" charset="-122"/>
                <a:cs typeface="Montserrat" pitchFamily="34" charset="-120"/>
              </a:rPr>
              <a:t>Hypercare &amp; benefits governance</a:t>
            </a:r>
            <a:endParaRPr lang="en-US" sz="760" dirty="0"/>
          </a:p>
        </p:txBody>
      </p:sp>
      <p:sp>
        <p:nvSpPr>
          <p:cNvPr id="43" name="Text 40"/>
          <p:cNvSpPr/>
          <p:nvPr/>
        </p:nvSpPr>
        <p:spPr>
          <a:xfrm>
            <a:off x="3264408" y="5032858"/>
            <a:ext cx="804672" cy="175565"/>
          </a:xfrm>
          <a:prstGeom prst="rect">
            <a:avLst/>
          </a:prstGeom>
          <a:noFill/>
          <a:ln/>
        </p:spPr>
        <p:txBody>
          <a:bodyPr wrap="square" lIns="0" tIns="0" rIns="0" bIns="0" rtlCol="0" anchor="ctr"/>
          <a:lstStyle/>
          <a:p>
            <a:pPr algn="r" indent="0" marL="0">
              <a:buNone/>
            </a:pPr>
            <a:r>
              <a:rPr lang="en-US" sz="760" b="1" dirty="0">
                <a:solidFill>
                  <a:srgbClr val="2B617A"/>
                </a:solidFill>
                <a:latin typeface="Montserrat" pitchFamily="34" charset="0"/>
                <a:ea typeface="Montserrat" pitchFamily="34" charset="-122"/>
                <a:cs typeface="Montserrat" pitchFamily="34" charset="-120"/>
              </a:rPr>
              <a:t>₹0.20 Cr</a:t>
            </a:r>
            <a:endParaRPr lang="en-US" sz="760" dirty="0"/>
          </a:p>
        </p:txBody>
      </p:sp>
      <p:sp>
        <p:nvSpPr>
          <p:cNvPr id="44" name="Shape 41"/>
          <p:cNvSpPr/>
          <p:nvPr/>
        </p:nvSpPr>
        <p:spPr>
          <a:xfrm>
            <a:off x="365760" y="5281574"/>
            <a:ext cx="3703320" cy="292608"/>
          </a:xfrm>
          <a:prstGeom prst="roundRect">
            <a:avLst>
              <a:gd name="adj" fmla="val 15625"/>
            </a:avLst>
          </a:prstGeom>
          <a:solidFill>
            <a:srgbClr val="FDEEE9"/>
          </a:solidFill>
          <a:ln/>
        </p:spPr>
      </p:sp>
      <p:sp>
        <p:nvSpPr>
          <p:cNvPr id="45" name="Text 42"/>
          <p:cNvSpPr/>
          <p:nvPr/>
        </p:nvSpPr>
        <p:spPr>
          <a:xfrm>
            <a:off x="457200" y="5281574"/>
            <a:ext cx="3520440" cy="292608"/>
          </a:xfrm>
          <a:prstGeom prst="rect">
            <a:avLst/>
          </a:prstGeom>
          <a:noFill/>
          <a:ln/>
        </p:spPr>
        <p:txBody>
          <a:bodyPr wrap="square" lIns="0" tIns="0" rIns="0" bIns="0" rtlCol="0" anchor="ctr"/>
          <a:lstStyle/>
          <a:p>
            <a:pPr algn="ctr" indent="0" marL="0">
              <a:buNone/>
            </a:pPr>
            <a:r>
              <a:rPr lang="en-US" sz="830" b="1" i="1" dirty="0">
                <a:solidFill>
                  <a:srgbClr val="CA4852"/>
                </a:solidFill>
                <a:latin typeface="Montserrat" pitchFamily="34" charset="0"/>
                <a:ea typeface="Montserrat" pitchFamily="34" charset="-122"/>
                <a:cs typeface="Montserrat" pitchFamily="34" charset="-120"/>
              </a:rPr>
              <a:t>Gate-funded; not released all at once</a:t>
            </a:r>
            <a:endParaRPr lang="en-US" sz="830" dirty="0"/>
          </a:p>
        </p:txBody>
      </p:sp>
      <p:sp>
        <p:nvSpPr>
          <p:cNvPr id="46" name="Text 43"/>
          <p:cNvSpPr/>
          <p:nvPr/>
        </p:nvSpPr>
        <p:spPr>
          <a:xfrm>
            <a:off x="4251960" y="1517904"/>
            <a:ext cx="3703320" cy="237744"/>
          </a:xfrm>
          <a:prstGeom prst="rect">
            <a:avLst/>
          </a:prstGeom>
          <a:noFill/>
          <a:ln/>
        </p:spPr>
        <p:txBody>
          <a:bodyPr wrap="square" lIns="0" tIns="0" rIns="0" bIns="0" rtlCol="0" anchor="ctr"/>
          <a:lstStyle/>
          <a:p>
            <a:pPr indent="0" marL="0">
              <a:buNone/>
            </a:pPr>
            <a:r>
              <a:rPr lang="en-US" sz="1050" b="1" spc="100" kern="0" dirty="0">
                <a:solidFill>
                  <a:srgbClr val="2B617A"/>
                </a:solidFill>
                <a:latin typeface="Montserrat" pitchFamily="34" charset="0"/>
                <a:ea typeface="Montserrat" pitchFamily="34" charset="-122"/>
                <a:cs typeface="Montserrat" pitchFamily="34" charset="-120"/>
              </a:rPr>
              <a:t>FIVE-YEAR VALUE EQUATION</a:t>
            </a:r>
            <a:endParaRPr lang="en-US" sz="1050" dirty="0"/>
          </a:p>
        </p:txBody>
      </p:sp>
      <p:sp>
        <p:nvSpPr>
          <p:cNvPr id="47" name="Shape 44"/>
          <p:cNvSpPr/>
          <p:nvPr/>
        </p:nvSpPr>
        <p:spPr>
          <a:xfrm>
            <a:off x="4251960" y="1810512"/>
            <a:ext cx="3703320" cy="1956816"/>
          </a:xfrm>
          <a:prstGeom prst="roundRect">
            <a:avLst>
              <a:gd name="adj" fmla="val 3271"/>
            </a:avLst>
          </a:prstGeom>
          <a:solidFill>
            <a:srgbClr val="E3E3E5"/>
          </a:solidFill>
          <a:ln/>
        </p:spPr>
      </p:sp>
      <p:sp>
        <p:nvSpPr>
          <p:cNvPr id="48" name="Text 45"/>
          <p:cNvSpPr/>
          <p:nvPr/>
        </p:nvSpPr>
        <p:spPr>
          <a:xfrm>
            <a:off x="4398264" y="1874520"/>
            <a:ext cx="310896" cy="402336"/>
          </a:xfrm>
          <a:prstGeom prst="rect">
            <a:avLst/>
          </a:prstGeom>
          <a:noFill/>
          <a:ln/>
        </p:spPr>
        <p:txBody>
          <a:bodyPr wrap="square" lIns="0" tIns="0" rIns="0" bIns="0" rtlCol="0" anchor="ctr"/>
          <a:lstStyle/>
          <a:p>
            <a:pPr indent="0" marL="0">
              <a:buNone/>
            </a:pPr>
            <a:endParaRPr lang="en-US" sz="1700" dirty="0"/>
          </a:p>
        </p:txBody>
      </p:sp>
      <p:sp>
        <p:nvSpPr>
          <p:cNvPr id="49" name="Text 46"/>
          <p:cNvSpPr/>
          <p:nvPr/>
        </p:nvSpPr>
        <p:spPr>
          <a:xfrm>
            <a:off x="4709160" y="1874520"/>
            <a:ext cx="1828800" cy="402336"/>
          </a:xfrm>
          <a:prstGeom prst="rect">
            <a:avLst/>
          </a:prstGeom>
          <a:noFill/>
          <a:ln/>
        </p:spPr>
        <p:txBody>
          <a:bodyPr wrap="square" lIns="0" tIns="0" rIns="0" bIns="0" rtlCol="0" anchor="ctr"/>
          <a:lstStyle/>
          <a:p>
            <a:pPr indent="0" marL="0">
              <a:buNone/>
            </a:pPr>
            <a:r>
              <a:rPr lang="en-US" sz="1050" dirty="0">
                <a:solidFill>
                  <a:srgbClr val="17252D"/>
                </a:solidFill>
                <a:latin typeface="Montserrat" pitchFamily="34" charset="0"/>
                <a:ea typeface="Montserrat" pitchFamily="34" charset="-122"/>
                <a:cs typeface="Montserrat" pitchFamily="34" charset="-120"/>
              </a:rPr>
              <a:t>5-yr quantified benefits</a:t>
            </a:r>
            <a:endParaRPr lang="en-US" sz="1050" dirty="0"/>
          </a:p>
        </p:txBody>
      </p:sp>
      <p:sp>
        <p:nvSpPr>
          <p:cNvPr id="50" name="Text 47"/>
          <p:cNvSpPr/>
          <p:nvPr/>
        </p:nvSpPr>
        <p:spPr>
          <a:xfrm>
            <a:off x="6537960" y="1874520"/>
            <a:ext cx="1280160" cy="402336"/>
          </a:xfrm>
          <a:prstGeom prst="rect">
            <a:avLst/>
          </a:prstGeom>
          <a:noFill/>
          <a:ln/>
        </p:spPr>
        <p:txBody>
          <a:bodyPr wrap="square" lIns="0" tIns="0" rIns="0" bIns="0" rtlCol="0" anchor="ctr"/>
          <a:lstStyle/>
          <a:p>
            <a:pPr algn="r" indent="0" marL="0">
              <a:buNone/>
            </a:pPr>
            <a:r>
              <a:rPr lang="en-US" sz="1500" b="1" dirty="0">
                <a:solidFill>
                  <a:srgbClr val="2B617A"/>
                </a:solidFill>
                <a:latin typeface="Montserrat" pitchFamily="34" charset="0"/>
                <a:ea typeface="Montserrat" pitchFamily="34" charset="-122"/>
                <a:cs typeface="Montserrat" pitchFamily="34" charset="-120"/>
              </a:rPr>
              <a:t>₹23.54 Cr</a:t>
            </a:r>
            <a:endParaRPr lang="en-US" sz="1500" dirty="0"/>
          </a:p>
        </p:txBody>
      </p:sp>
      <p:sp>
        <p:nvSpPr>
          <p:cNvPr id="51" name="Text 48"/>
          <p:cNvSpPr/>
          <p:nvPr/>
        </p:nvSpPr>
        <p:spPr>
          <a:xfrm>
            <a:off x="4398264" y="2331720"/>
            <a:ext cx="310896" cy="402336"/>
          </a:xfrm>
          <a:prstGeom prst="rect">
            <a:avLst/>
          </a:prstGeom>
          <a:noFill/>
          <a:ln/>
        </p:spPr>
        <p:txBody>
          <a:bodyPr wrap="square" lIns="0" tIns="0" rIns="0" bIns="0" rtlCol="0" anchor="ctr"/>
          <a:lstStyle/>
          <a:p>
            <a:pPr indent="0" marL="0">
              <a:buNone/>
            </a:pPr>
            <a:r>
              <a:rPr lang="en-US" sz="1700" b="1" dirty="0">
                <a:solidFill>
                  <a:srgbClr val="859EA7"/>
                </a:solidFill>
                <a:latin typeface="Montserrat" pitchFamily="34" charset="0"/>
                <a:ea typeface="Montserrat" pitchFamily="34" charset="-122"/>
                <a:cs typeface="Montserrat" pitchFamily="34" charset="-120"/>
              </a:rPr>
              <a:t>−</a:t>
            </a:r>
            <a:endParaRPr lang="en-US" sz="1700" dirty="0"/>
          </a:p>
        </p:txBody>
      </p:sp>
      <p:sp>
        <p:nvSpPr>
          <p:cNvPr id="52" name="Text 49"/>
          <p:cNvSpPr/>
          <p:nvPr/>
        </p:nvSpPr>
        <p:spPr>
          <a:xfrm>
            <a:off x="4709160" y="2331720"/>
            <a:ext cx="1828800" cy="402336"/>
          </a:xfrm>
          <a:prstGeom prst="rect">
            <a:avLst/>
          </a:prstGeom>
          <a:noFill/>
          <a:ln/>
        </p:spPr>
        <p:txBody>
          <a:bodyPr wrap="square" lIns="0" tIns="0" rIns="0" bIns="0" rtlCol="0" anchor="ctr"/>
          <a:lstStyle/>
          <a:p>
            <a:pPr indent="0" marL="0">
              <a:buNone/>
            </a:pPr>
            <a:r>
              <a:rPr lang="en-US" sz="1050" dirty="0">
                <a:solidFill>
                  <a:srgbClr val="17252D"/>
                </a:solidFill>
                <a:latin typeface="Montserrat" pitchFamily="34" charset="0"/>
                <a:ea typeface="Montserrat" pitchFamily="34" charset="-122"/>
                <a:cs typeface="Montserrat" pitchFamily="34" charset="-120"/>
              </a:rPr>
              <a:t>Operating cost</a:t>
            </a:r>
            <a:endParaRPr lang="en-US" sz="1050" dirty="0"/>
          </a:p>
        </p:txBody>
      </p:sp>
      <p:sp>
        <p:nvSpPr>
          <p:cNvPr id="53" name="Text 50"/>
          <p:cNvSpPr/>
          <p:nvPr/>
        </p:nvSpPr>
        <p:spPr>
          <a:xfrm>
            <a:off x="6537960" y="2331720"/>
            <a:ext cx="1280160" cy="402336"/>
          </a:xfrm>
          <a:prstGeom prst="rect">
            <a:avLst/>
          </a:prstGeom>
          <a:noFill/>
          <a:ln/>
        </p:spPr>
        <p:txBody>
          <a:bodyPr wrap="square" lIns="0" tIns="0" rIns="0" bIns="0" rtlCol="0" anchor="ctr"/>
          <a:lstStyle/>
          <a:p>
            <a:pPr algn="r" indent="0" marL="0">
              <a:buNone/>
            </a:pPr>
            <a:r>
              <a:rPr lang="en-US" sz="1500" b="1" dirty="0">
                <a:solidFill>
                  <a:srgbClr val="2B617A"/>
                </a:solidFill>
                <a:latin typeface="Montserrat" pitchFamily="34" charset="0"/>
                <a:ea typeface="Montserrat" pitchFamily="34" charset="-122"/>
                <a:cs typeface="Montserrat" pitchFamily="34" charset="-120"/>
              </a:rPr>
              <a:t>₹13.07 Cr</a:t>
            </a:r>
            <a:endParaRPr lang="en-US" sz="1500" dirty="0"/>
          </a:p>
        </p:txBody>
      </p:sp>
      <p:sp>
        <p:nvSpPr>
          <p:cNvPr id="54" name="Text 51"/>
          <p:cNvSpPr/>
          <p:nvPr/>
        </p:nvSpPr>
        <p:spPr>
          <a:xfrm>
            <a:off x="4398264" y="2788920"/>
            <a:ext cx="310896" cy="402336"/>
          </a:xfrm>
          <a:prstGeom prst="rect">
            <a:avLst/>
          </a:prstGeom>
          <a:noFill/>
          <a:ln/>
        </p:spPr>
        <p:txBody>
          <a:bodyPr wrap="square" lIns="0" tIns="0" rIns="0" bIns="0" rtlCol="0" anchor="ctr"/>
          <a:lstStyle/>
          <a:p>
            <a:pPr indent="0" marL="0">
              <a:buNone/>
            </a:pPr>
            <a:r>
              <a:rPr lang="en-US" sz="1700" b="1" dirty="0">
                <a:solidFill>
                  <a:srgbClr val="859EA7"/>
                </a:solidFill>
                <a:latin typeface="Montserrat" pitchFamily="34" charset="0"/>
                <a:ea typeface="Montserrat" pitchFamily="34" charset="-122"/>
                <a:cs typeface="Montserrat" pitchFamily="34" charset="-120"/>
              </a:rPr>
              <a:t>−</a:t>
            </a:r>
            <a:endParaRPr lang="en-US" sz="1700" dirty="0"/>
          </a:p>
        </p:txBody>
      </p:sp>
      <p:sp>
        <p:nvSpPr>
          <p:cNvPr id="55" name="Text 52"/>
          <p:cNvSpPr/>
          <p:nvPr/>
        </p:nvSpPr>
        <p:spPr>
          <a:xfrm>
            <a:off x="4709160" y="2788920"/>
            <a:ext cx="1828800" cy="402336"/>
          </a:xfrm>
          <a:prstGeom prst="rect">
            <a:avLst/>
          </a:prstGeom>
          <a:noFill/>
          <a:ln/>
        </p:spPr>
        <p:txBody>
          <a:bodyPr wrap="square" lIns="0" tIns="0" rIns="0" bIns="0" rtlCol="0" anchor="ctr"/>
          <a:lstStyle/>
          <a:p>
            <a:pPr indent="0" marL="0">
              <a:buNone/>
            </a:pPr>
            <a:r>
              <a:rPr lang="en-US" sz="1050" dirty="0">
                <a:solidFill>
                  <a:srgbClr val="17252D"/>
                </a:solidFill>
                <a:latin typeface="Montserrat" pitchFamily="34" charset="0"/>
                <a:ea typeface="Montserrat" pitchFamily="34" charset="-122"/>
                <a:cs typeface="Montserrat" pitchFamily="34" charset="-120"/>
              </a:rPr>
              <a:t>Build (implementation) cost</a:t>
            </a:r>
            <a:endParaRPr lang="en-US" sz="1050" dirty="0"/>
          </a:p>
        </p:txBody>
      </p:sp>
      <p:sp>
        <p:nvSpPr>
          <p:cNvPr id="56" name="Text 53"/>
          <p:cNvSpPr/>
          <p:nvPr/>
        </p:nvSpPr>
        <p:spPr>
          <a:xfrm>
            <a:off x="6537960" y="2788920"/>
            <a:ext cx="1280160" cy="402336"/>
          </a:xfrm>
          <a:prstGeom prst="rect">
            <a:avLst/>
          </a:prstGeom>
          <a:noFill/>
          <a:ln/>
        </p:spPr>
        <p:txBody>
          <a:bodyPr wrap="square" lIns="0" tIns="0" rIns="0" bIns="0" rtlCol="0" anchor="ctr"/>
          <a:lstStyle/>
          <a:p>
            <a:pPr algn="r" indent="0" marL="0">
              <a:buNone/>
            </a:pPr>
            <a:r>
              <a:rPr lang="en-US" sz="1500" b="1" dirty="0">
                <a:solidFill>
                  <a:srgbClr val="2B617A"/>
                </a:solidFill>
                <a:latin typeface="Montserrat" pitchFamily="34" charset="0"/>
                <a:ea typeface="Montserrat" pitchFamily="34" charset="-122"/>
                <a:cs typeface="Montserrat" pitchFamily="34" charset="-120"/>
              </a:rPr>
              <a:t>₹4.97 Cr</a:t>
            </a:r>
            <a:endParaRPr lang="en-US" sz="1500" dirty="0"/>
          </a:p>
        </p:txBody>
      </p:sp>
      <p:sp>
        <p:nvSpPr>
          <p:cNvPr id="57" name="Shape 54"/>
          <p:cNvSpPr/>
          <p:nvPr/>
        </p:nvSpPr>
        <p:spPr>
          <a:xfrm>
            <a:off x="4325112" y="3246120"/>
            <a:ext cx="3557016" cy="402336"/>
          </a:xfrm>
          <a:prstGeom prst="roundRect">
            <a:avLst>
              <a:gd name="adj" fmla="val 11364"/>
            </a:avLst>
          </a:prstGeom>
          <a:solidFill>
            <a:srgbClr val="2B617A"/>
          </a:solidFill>
          <a:ln/>
        </p:spPr>
      </p:sp>
      <p:sp>
        <p:nvSpPr>
          <p:cNvPr id="58" name="Text 55"/>
          <p:cNvSpPr/>
          <p:nvPr/>
        </p:nvSpPr>
        <p:spPr>
          <a:xfrm>
            <a:off x="4398264" y="3246120"/>
            <a:ext cx="310896" cy="402336"/>
          </a:xfrm>
          <a:prstGeom prst="rect">
            <a:avLst/>
          </a:prstGeom>
          <a:noFill/>
          <a:ln/>
        </p:spPr>
        <p:txBody>
          <a:bodyPr wrap="square" lIns="0" tIns="0" rIns="0" bIns="0" rtlCol="0" anchor="ctr"/>
          <a:lstStyle/>
          <a:p>
            <a:pPr indent="0" marL="0">
              <a:buNone/>
            </a:pPr>
            <a:r>
              <a:rPr lang="en-US" sz="1700" b="1" dirty="0">
                <a:solidFill>
                  <a:srgbClr val="FFFFFF"/>
                </a:solidFill>
                <a:latin typeface="Montserrat" pitchFamily="34" charset="0"/>
                <a:ea typeface="Montserrat" pitchFamily="34" charset="-122"/>
                <a:cs typeface="Montserrat" pitchFamily="34" charset="-120"/>
              </a:rPr>
              <a:t>=</a:t>
            </a:r>
            <a:endParaRPr lang="en-US" sz="1700" dirty="0"/>
          </a:p>
        </p:txBody>
      </p:sp>
      <p:sp>
        <p:nvSpPr>
          <p:cNvPr id="59" name="Text 56"/>
          <p:cNvSpPr/>
          <p:nvPr/>
        </p:nvSpPr>
        <p:spPr>
          <a:xfrm>
            <a:off x="4709160" y="3246120"/>
            <a:ext cx="1828800" cy="402336"/>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Net benefit</a:t>
            </a:r>
            <a:endParaRPr lang="en-US" sz="1050" dirty="0"/>
          </a:p>
        </p:txBody>
      </p:sp>
      <p:sp>
        <p:nvSpPr>
          <p:cNvPr id="60" name="Text 57"/>
          <p:cNvSpPr/>
          <p:nvPr/>
        </p:nvSpPr>
        <p:spPr>
          <a:xfrm>
            <a:off x="6537960" y="3246120"/>
            <a:ext cx="1280160" cy="402336"/>
          </a:xfrm>
          <a:prstGeom prst="rect">
            <a:avLst/>
          </a:prstGeom>
          <a:noFill/>
          <a:ln/>
        </p:spPr>
        <p:txBody>
          <a:bodyPr wrap="square" lIns="0" tIns="0" rIns="0" bIns="0" rtlCol="0" anchor="ctr"/>
          <a:lstStyle/>
          <a:p>
            <a:pPr algn="r" indent="0" marL="0">
              <a:buNone/>
            </a:pPr>
            <a:r>
              <a:rPr lang="en-US" sz="1500" b="1" dirty="0">
                <a:solidFill>
                  <a:srgbClr val="07ACBE"/>
                </a:solidFill>
                <a:latin typeface="Montserrat" pitchFamily="34" charset="0"/>
                <a:ea typeface="Montserrat" pitchFamily="34" charset="-122"/>
                <a:cs typeface="Montserrat" pitchFamily="34" charset="-120"/>
              </a:rPr>
              <a:t>₹5.50 Cr</a:t>
            </a:r>
            <a:endParaRPr lang="en-US" sz="1500" dirty="0"/>
          </a:p>
        </p:txBody>
      </p:sp>
      <p:sp>
        <p:nvSpPr>
          <p:cNvPr id="61" name="Shape 58"/>
          <p:cNvSpPr/>
          <p:nvPr/>
        </p:nvSpPr>
        <p:spPr>
          <a:xfrm>
            <a:off x="4251960" y="3950208"/>
            <a:ext cx="1787652" cy="658368"/>
          </a:xfrm>
          <a:prstGeom prst="roundRect">
            <a:avLst>
              <a:gd name="adj" fmla="val 8333"/>
            </a:avLst>
          </a:prstGeom>
          <a:solidFill>
            <a:srgbClr val="FFFFFF"/>
          </a:solidFill>
          <a:ln w="9525">
            <a:solidFill>
              <a:srgbClr val="ABB8BE"/>
            </a:solidFill>
            <a:prstDash val="solid"/>
          </a:ln>
        </p:spPr>
      </p:sp>
      <p:sp>
        <p:nvSpPr>
          <p:cNvPr id="62" name="Text 59"/>
          <p:cNvSpPr/>
          <p:nvPr/>
        </p:nvSpPr>
        <p:spPr>
          <a:xfrm>
            <a:off x="4251960" y="4023360"/>
            <a:ext cx="1787652" cy="347472"/>
          </a:xfrm>
          <a:prstGeom prst="rect">
            <a:avLst/>
          </a:prstGeom>
          <a:noFill/>
          <a:ln/>
        </p:spPr>
        <p:txBody>
          <a:bodyPr wrap="square" lIns="0" tIns="0" rIns="0" bIns="0" rtlCol="0" anchor="ctr"/>
          <a:lstStyle/>
          <a:p>
            <a:pPr algn="ctr" indent="0" marL="0">
              <a:buNone/>
            </a:pPr>
            <a:r>
              <a:rPr lang="en-US" sz="1900" b="1" dirty="0">
                <a:solidFill>
                  <a:srgbClr val="07ACBE"/>
                </a:solidFill>
                <a:latin typeface="Montserrat" pitchFamily="34" charset="0"/>
                <a:ea typeface="Montserrat" pitchFamily="34" charset="-122"/>
                <a:cs typeface="Montserrat" pitchFamily="34" charset="-120"/>
              </a:rPr>
              <a:t>₹1.58 Cr</a:t>
            </a:r>
            <a:endParaRPr lang="en-US" sz="1900" dirty="0"/>
          </a:p>
        </p:txBody>
      </p:sp>
      <p:sp>
        <p:nvSpPr>
          <p:cNvPr id="63" name="Text 60"/>
          <p:cNvSpPr/>
          <p:nvPr/>
        </p:nvSpPr>
        <p:spPr>
          <a:xfrm>
            <a:off x="4251960" y="4352544"/>
            <a:ext cx="1787652" cy="219456"/>
          </a:xfrm>
          <a:prstGeom prst="rect">
            <a:avLst/>
          </a:prstGeom>
          <a:noFill/>
          <a:ln/>
        </p:spPr>
        <p:txBody>
          <a:bodyPr wrap="square" lIns="0" tIns="0" rIns="0" bIns="0" rtlCol="0" anchor="ctr"/>
          <a:lstStyle/>
          <a:p>
            <a:pPr algn="ctr" indent="0" marL="0">
              <a:buNone/>
            </a:pPr>
            <a:r>
              <a:rPr lang="en-US" sz="800" dirty="0">
                <a:solidFill>
                  <a:srgbClr val="859EA7"/>
                </a:solidFill>
                <a:latin typeface="Montserrat" pitchFamily="34" charset="0"/>
                <a:ea typeface="Montserrat" pitchFamily="34" charset="-122"/>
                <a:cs typeface="Montserrat" pitchFamily="34" charset="-120"/>
              </a:rPr>
              <a:t>Base-case NPV @ 12%</a:t>
            </a:r>
            <a:endParaRPr lang="en-US" sz="800" dirty="0"/>
          </a:p>
        </p:txBody>
      </p:sp>
      <p:sp>
        <p:nvSpPr>
          <p:cNvPr id="64" name="Shape 61"/>
          <p:cNvSpPr/>
          <p:nvPr/>
        </p:nvSpPr>
        <p:spPr>
          <a:xfrm>
            <a:off x="6167628" y="3950208"/>
            <a:ext cx="1787652" cy="658368"/>
          </a:xfrm>
          <a:prstGeom prst="roundRect">
            <a:avLst>
              <a:gd name="adj" fmla="val 8333"/>
            </a:avLst>
          </a:prstGeom>
          <a:solidFill>
            <a:srgbClr val="FFFFFF"/>
          </a:solidFill>
          <a:ln w="9525">
            <a:solidFill>
              <a:srgbClr val="ABB8BE"/>
            </a:solidFill>
            <a:prstDash val="solid"/>
          </a:ln>
        </p:spPr>
      </p:sp>
      <p:sp>
        <p:nvSpPr>
          <p:cNvPr id="65" name="Text 62"/>
          <p:cNvSpPr/>
          <p:nvPr/>
        </p:nvSpPr>
        <p:spPr>
          <a:xfrm>
            <a:off x="6167628" y="4023360"/>
            <a:ext cx="1787652" cy="347472"/>
          </a:xfrm>
          <a:prstGeom prst="rect">
            <a:avLst/>
          </a:prstGeom>
          <a:noFill/>
          <a:ln/>
        </p:spPr>
        <p:txBody>
          <a:bodyPr wrap="square" lIns="0" tIns="0" rIns="0" bIns="0" rtlCol="0" anchor="ctr"/>
          <a:lstStyle/>
          <a:p>
            <a:pPr algn="ctr" indent="0" marL="0">
              <a:buNone/>
            </a:pPr>
            <a:r>
              <a:rPr lang="en-US" sz="1900" b="1" dirty="0">
                <a:solidFill>
                  <a:srgbClr val="07ACBE"/>
                </a:solidFill>
                <a:latin typeface="Montserrat" pitchFamily="34" charset="0"/>
                <a:ea typeface="Montserrat" pitchFamily="34" charset="-122"/>
                <a:cs typeface="Montserrat" pitchFamily="34" charset="-120"/>
              </a:rPr>
              <a:t>19.8%</a:t>
            </a:r>
            <a:endParaRPr lang="en-US" sz="1900" dirty="0"/>
          </a:p>
        </p:txBody>
      </p:sp>
      <p:sp>
        <p:nvSpPr>
          <p:cNvPr id="66" name="Text 63"/>
          <p:cNvSpPr/>
          <p:nvPr/>
        </p:nvSpPr>
        <p:spPr>
          <a:xfrm>
            <a:off x="6167628" y="4352544"/>
            <a:ext cx="1787652" cy="219456"/>
          </a:xfrm>
          <a:prstGeom prst="rect">
            <a:avLst/>
          </a:prstGeom>
          <a:noFill/>
          <a:ln/>
        </p:spPr>
        <p:txBody>
          <a:bodyPr wrap="square" lIns="0" tIns="0" rIns="0" bIns="0" rtlCol="0" anchor="ctr"/>
          <a:lstStyle/>
          <a:p>
            <a:pPr algn="ctr" indent="0" marL="0">
              <a:buNone/>
            </a:pPr>
            <a:r>
              <a:rPr lang="en-US" sz="800" dirty="0">
                <a:solidFill>
                  <a:srgbClr val="859EA7"/>
                </a:solidFill>
                <a:latin typeface="Montserrat" pitchFamily="34" charset="0"/>
                <a:ea typeface="Montserrat" pitchFamily="34" charset="-122"/>
                <a:cs typeface="Montserrat" pitchFamily="34" charset="-120"/>
              </a:rPr>
              <a:t>IRR</a:t>
            </a:r>
            <a:endParaRPr lang="en-US" sz="800" dirty="0"/>
          </a:p>
        </p:txBody>
      </p:sp>
      <p:sp>
        <p:nvSpPr>
          <p:cNvPr id="67" name="Shape 64"/>
          <p:cNvSpPr/>
          <p:nvPr/>
        </p:nvSpPr>
        <p:spPr>
          <a:xfrm>
            <a:off x="4251960" y="4736592"/>
            <a:ext cx="1787652" cy="658368"/>
          </a:xfrm>
          <a:prstGeom prst="roundRect">
            <a:avLst>
              <a:gd name="adj" fmla="val 8333"/>
            </a:avLst>
          </a:prstGeom>
          <a:solidFill>
            <a:srgbClr val="FFFFFF"/>
          </a:solidFill>
          <a:ln w="9525">
            <a:solidFill>
              <a:srgbClr val="ABB8BE"/>
            </a:solidFill>
            <a:prstDash val="solid"/>
          </a:ln>
        </p:spPr>
      </p:sp>
      <p:sp>
        <p:nvSpPr>
          <p:cNvPr id="68" name="Text 65"/>
          <p:cNvSpPr/>
          <p:nvPr/>
        </p:nvSpPr>
        <p:spPr>
          <a:xfrm>
            <a:off x="4251960" y="4809744"/>
            <a:ext cx="1787652" cy="347472"/>
          </a:xfrm>
          <a:prstGeom prst="rect">
            <a:avLst/>
          </a:prstGeom>
          <a:noFill/>
          <a:ln/>
        </p:spPr>
        <p:txBody>
          <a:bodyPr wrap="square" lIns="0" tIns="0" rIns="0" bIns="0" rtlCol="0" anchor="ctr"/>
          <a:lstStyle/>
          <a:p>
            <a:pPr algn="ctr" indent="0" marL="0">
              <a:buNone/>
            </a:pPr>
            <a:r>
              <a:rPr lang="en-US" sz="1900" b="1" dirty="0">
                <a:solidFill>
                  <a:srgbClr val="07ACBE"/>
                </a:solidFill>
                <a:latin typeface="Montserrat" pitchFamily="34" charset="0"/>
                <a:ea typeface="Montserrat" pitchFamily="34" charset="-122"/>
                <a:cs typeface="Montserrat" pitchFamily="34" charset="-120"/>
              </a:rPr>
              <a:t>3.7 yrs</a:t>
            </a:r>
            <a:endParaRPr lang="en-US" sz="1900" dirty="0"/>
          </a:p>
        </p:txBody>
      </p:sp>
      <p:sp>
        <p:nvSpPr>
          <p:cNvPr id="69" name="Text 66"/>
          <p:cNvSpPr/>
          <p:nvPr/>
        </p:nvSpPr>
        <p:spPr>
          <a:xfrm>
            <a:off x="4251960" y="5138928"/>
            <a:ext cx="1787652" cy="219456"/>
          </a:xfrm>
          <a:prstGeom prst="rect">
            <a:avLst/>
          </a:prstGeom>
          <a:noFill/>
          <a:ln/>
        </p:spPr>
        <p:txBody>
          <a:bodyPr wrap="square" lIns="0" tIns="0" rIns="0" bIns="0" rtlCol="0" anchor="ctr"/>
          <a:lstStyle/>
          <a:p>
            <a:pPr algn="ctr" indent="0" marL="0">
              <a:buNone/>
            </a:pPr>
            <a:r>
              <a:rPr lang="en-US" sz="800" dirty="0">
                <a:solidFill>
                  <a:srgbClr val="859EA7"/>
                </a:solidFill>
                <a:latin typeface="Montserrat" pitchFamily="34" charset="0"/>
                <a:ea typeface="Montserrat" pitchFamily="34" charset="-122"/>
                <a:cs typeface="Montserrat" pitchFamily="34" charset="-120"/>
              </a:rPr>
              <a:t>Payback</a:t>
            </a:r>
            <a:endParaRPr lang="en-US" sz="800" dirty="0"/>
          </a:p>
        </p:txBody>
      </p:sp>
      <p:sp>
        <p:nvSpPr>
          <p:cNvPr id="70" name="Shape 67"/>
          <p:cNvSpPr/>
          <p:nvPr/>
        </p:nvSpPr>
        <p:spPr>
          <a:xfrm>
            <a:off x="6167628" y="4736592"/>
            <a:ext cx="1787652" cy="658368"/>
          </a:xfrm>
          <a:prstGeom prst="roundRect">
            <a:avLst>
              <a:gd name="adj" fmla="val 8333"/>
            </a:avLst>
          </a:prstGeom>
          <a:solidFill>
            <a:srgbClr val="FFFFFF"/>
          </a:solidFill>
          <a:ln w="9525">
            <a:solidFill>
              <a:srgbClr val="ABB8BE"/>
            </a:solidFill>
            <a:prstDash val="solid"/>
          </a:ln>
        </p:spPr>
      </p:sp>
      <p:sp>
        <p:nvSpPr>
          <p:cNvPr id="71" name="Text 68"/>
          <p:cNvSpPr/>
          <p:nvPr/>
        </p:nvSpPr>
        <p:spPr>
          <a:xfrm>
            <a:off x="6167628" y="4809744"/>
            <a:ext cx="1787652" cy="347472"/>
          </a:xfrm>
          <a:prstGeom prst="rect">
            <a:avLst/>
          </a:prstGeom>
          <a:noFill/>
          <a:ln/>
        </p:spPr>
        <p:txBody>
          <a:bodyPr wrap="square" lIns="0" tIns="0" rIns="0" bIns="0" rtlCol="0" anchor="ctr"/>
          <a:lstStyle/>
          <a:p>
            <a:pPr algn="ctr" indent="0" marL="0">
              <a:buNone/>
            </a:pPr>
            <a:r>
              <a:rPr lang="en-US" sz="1900" b="1" dirty="0">
                <a:solidFill>
                  <a:srgbClr val="07ACBE"/>
                </a:solidFill>
                <a:latin typeface="Montserrat" pitchFamily="34" charset="0"/>
                <a:ea typeface="Montserrat" pitchFamily="34" charset="-122"/>
                <a:cs typeface="Montserrat" pitchFamily="34" charset="-120"/>
              </a:rPr>
              <a:t>110.7%</a:t>
            </a:r>
            <a:endParaRPr lang="en-US" sz="1900" dirty="0"/>
          </a:p>
        </p:txBody>
      </p:sp>
      <p:sp>
        <p:nvSpPr>
          <p:cNvPr id="72" name="Text 69"/>
          <p:cNvSpPr/>
          <p:nvPr/>
        </p:nvSpPr>
        <p:spPr>
          <a:xfrm>
            <a:off x="6167628" y="5138928"/>
            <a:ext cx="1787652" cy="219456"/>
          </a:xfrm>
          <a:prstGeom prst="rect">
            <a:avLst/>
          </a:prstGeom>
          <a:noFill/>
          <a:ln/>
        </p:spPr>
        <p:txBody>
          <a:bodyPr wrap="square" lIns="0" tIns="0" rIns="0" bIns="0" rtlCol="0" anchor="ctr"/>
          <a:lstStyle/>
          <a:p>
            <a:pPr algn="ctr" indent="0" marL="0">
              <a:buNone/>
            </a:pPr>
            <a:r>
              <a:rPr lang="en-US" sz="800" dirty="0">
                <a:solidFill>
                  <a:srgbClr val="859EA7"/>
                </a:solidFill>
                <a:latin typeface="Montserrat" pitchFamily="34" charset="0"/>
                <a:ea typeface="Montserrat" pitchFamily="34" charset="-122"/>
                <a:cs typeface="Montserrat" pitchFamily="34" charset="-120"/>
              </a:rPr>
              <a:t>ROI</a:t>
            </a:r>
            <a:endParaRPr lang="en-US" sz="800" dirty="0"/>
          </a:p>
        </p:txBody>
      </p:sp>
      <p:sp>
        <p:nvSpPr>
          <p:cNvPr id="73" name="Text 70"/>
          <p:cNvSpPr/>
          <p:nvPr/>
        </p:nvSpPr>
        <p:spPr>
          <a:xfrm>
            <a:off x="8138160" y="1517904"/>
            <a:ext cx="3319272" cy="237744"/>
          </a:xfrm>
          <a:prstGeom prst="rect">
            <a:avLst/>
          </a:prstGeom>
          <a:noFill/>
          <a:ln/>
        </p:spPr>
        <p:txBody>
          <a:bodyPr wrap="square" lIns="0" tIns="0" rIns="0" bIns="0" rtlCol="0" anchor="ctr"/>
          <a:lstStyle/>
          <a:p>
            <a:pPr indent="0" marL="0">
              <a:buNone/>
            </a:pPr>
            <a:r>
              <a:rPr lang="en-US" sz="1050" b="1" spc="100" kern="0" dirty="0">
                <a:solidFill>
                  <a:srgbClr val="2B617A"/>
                </a:solidFill>
                <a:latin typeface="Montserrat" pitchFamily="34" charset="0"/>
                <a:ea typeface="Montserrat" pitchFamily="34" charset="-122"/>
                <a:cs typeface="Montserrat" pitchFamily="34" charset="-120"/>
              </a:rPr>
              <a:t>SCENARIO DECISION</a:t>
            </a:r>
            <a:endParaRPr lang="en-US" sz="1050" dirty="0"/>
          </a:p>
        </p:txBody>
      </p:sp>
      <p:sp>
        <p:nvSpPr>
          <p:cNvPr id="74" name="Shape 71"/>
          <p:cNvSpPr/>
          <p:nvPr/>
        </p:nvSpPr>
        <p:spPr>
          <a:xfrm>
            <a:off x="8138160" y="1792224"/>
            <a:ext cx="3319272" cy="566928"/>
          </a:xfrm>
          <a:prstGeom prst="roundRect">
            <a:avLst>
              <a:gd name="adj" fmla="val 9677"/>
            </a:avLst>
          </a:prstGeom>
          <a:solidFill>
            <a:srgbClr val="F4E4E1"/>
          </a:solidFill>
          <a:ln/>
        </p:spPr>
      </p:sp>
      <p:sp>
        <p:nvSpPr>
          <p:cNvPr id="75" name="Shape 72"/>
          <p:cNvSpPr/>
          <p:nvPr/>
        </p:nvSpPr>
        <p:spPr>
          <a:xfrm>
            <a:off x="8229600" y="1865376"/>
            <a:ext cx="932688" cy="420624"/>
          </a:xfrm>
          <a:prstGeom prst="roundRect">
            <a:avLst>
              <a:gd name="adj" fmla="val 10870"/>
            </a:avLst>
          </a:prstGeom>
          <a:solidFill>
            <a:srgbClr val="65261D"/>
          </a:solidFill>
          <a:ln/>
        </p:spPr>
      </p:sp>
      <p:sp>
        <p:nvSpPr>
          <p:cNvPr id="76" name="Text 73"/>
          <p:cNvSpPr/>
          <p:nvPr/>
        </p:nvSpPr>
        <p:spPr>
          <a:xfrm>
            <a:off x="8229600" y="1865376"/>
            <a:ext cx="932688"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Downside</a:t>
            </a:r>
            <a:endParaRPr lang="en-US" sz="1050" dirty="0"/>
          </a:p>
        </p:txBody>
      </p:sp>
      <p:sp>
        <p:nvSpPr>
          <p:cNvPr id="77" name="Text 74"/>
          <p:cNvSpPr/>
          <p:nvPr/>
        </p:nvSpPr>
        <p:spPr>
          <a:xfrm>
            <a:off x="9272016" y="1847088"/>
            <a:ext cx="2075688" cy="457200"/>
          </a:xfrm>
          <a:prstGeom prst="rect">
            <a:avLst/>
          </a:prstGeom>
          <a:noFill/>
          <a:ln/>
        </p:spPr>
        <p:txBody>
          <a:bodyPr wrap="square" lIns="0" tIns="0" rIns="0" bIns="0" rtlCol="0" anchor="ctr"/>
          <a:lstStyle/>
          <a:p>
            <a:pPr indent="0" marL="0">
              <a:lnSpc>
                <a:spcPct val="115000"/>
              </a:lnSpc>
              <a:buNone/>
            </a:pPr>
            <a:r>
              <a:rPr lang="en-US" sz="800" b="1" dirty="0">
                <a:solidFill>
                  <a:srgbClr val="65261D"/>
                </a:solidFill>
                <a:latin typeface="Montserrat" pitchFamily="34" charset="0"/>
                <a:ea typeface="Montserrat" pitchFamily="34" charset="-122"/>
                <a:cs typeface="Montserrat" pitchFamily="34" charset="-120"/>
              </a:rPr>
              <a:t>NPV (₹4.89 Cr)   IRR (15.5%)   Payback No payback</a:t>
            </a:r>
            <a:endParaRPr lang="en-US" sz="800" dirty="0"/>
          </a:p>
          <a:p>
            <a:pPr indent="0" marL="0">
              <a:lnSpc>
                <a:spcPct val="115000"/>
              </a:lnSpc>
              <a:buNone/>
            </a:pPr>
            <a:r>
              <a:rPr lang="en-US" sz="800" i="1" dirty="0">
                <a:solidFill>
                  <a:srgbClr val="17252D"/>
                </a:solidFill>
                <a:latin typeface="Montserrat" pitchFamily="34" charset="0"/>
                <a:ea typeface="Montserrat" pitchFamily="34" charset="-122"/>
                <a:cs typeface="Montserrat" pitchFamily="34" charset="-120"/>
              </a:rPr>
              <a:t>Reduce scope / revalidate benefits</a:t>
            </a:r>
            <a:endParaRPr lang="en-US" sz="800" dirty="0"/>
          </a:p>
        </p:txBody>
      </p:sp>
      <p:sp>
        <p:nvSpPr>
          <p:cNvPr id="78" name="Shape 75"/>
          <p:cNvSpPr/>
          <p:nvPr/>
        </p:nvSpPr>
        <p:spPr>
          <a:xfrm>
            <a:off x="8138160" y="2404872"/>
            <a:ext cx="3319272" cy="566928"/>
          </a:xfrm>
          <a:prstGeom prst="roundRect">
            <a:avLst>
              <a:gd name="adj" fmla="val 9677"/>
            </a:avLst>
          </a:prstGeom>
          <a:solidFill>
            <a:srgbClr val="E4EBEE"/>
          </a:solidFill>
          <a:ln/>
        </p:spPr>
      </p:sp>
      <p:sp>
        <p:nvSpPr>
          <p:cNvPr id="79" name="Shape 76"/>
          <p:cNvSpPr/>
          <p:nvPr/>
        </p:nvSpPr>
        <p:spPr>
          <a:xfrm>
            <a:off x="8229600" y="2478024"/>
            <a:ext cx="932688" cy="420624"/>
          </a:xfrm>
          <a:prstGeom prst="roundRect">
            <a:avLst>
              <a:gd name="adj" fmla="val 10870"/>
            </a:avLst>
          </a:prstGeom>
          <a:solidFill>
            <a:srgbClr val="2B617A"/>
          </a:solidFill>
          <a:ln/>
        </p:spPr>
      </p:sp>
      <p:sp>
        <p:nvSpPr>
          <p:cNvPr id="80" name="Text 77"/>
          <p:cNvSpPr/>
          <p:nvPr/>
        </p:nvSpPr>
        <p:spPr>
          <a:xfrm>
            <a:off x="8229600" y="2478024"/>
            <a:ext cx="932688"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Base</a:t>
            </a:r>
            <a:endParaRPr lang="en-US" sz="1050" dirty="0"/>
          </a:p>
        </p:txBody>
      </p:sp>
      <p:sp>
        <p:nvSpPr>
          <p:cNvPr id="81" name="Text 78"/>
          <p:cNvSpPr/>
          <p:nvPr/>
        </p:nvSpPr>
        <p:spPr>
          <a:xfrm>
            <a:off x="9272016" y="2459736"/>
            <a:ext cx="2075688" cy="457200"/>
          </a:xfrm>
          <a:prstGeom prst="rect">
            <a:avLst/>
          </a:prstGeom>
          <a:noFill/>
          <a:ln/>
        </p:spPr>
        <p:txBody>
          <a:bodyPr wrap="square" lIns="0" tIns="0" rIns="0" bIns="0" rtlCol="0" anchor="ctr"/>
          <a:lstStyle/>
          <a:p>
            <a:pPr indent="0" marL="0">
              <a:lnSpc>
                <a:spcPct val="115000"/>
              </a:lnSpc>
              <a:buNone/>
            </a:pPr>
            <a:r>
              <a:rPr lang="en-US" sz="800" b="1" dirty="0">
                <a:solidFill>
                  <a:srgbClr val="2B617A"/>
                </a:solidFill>
                <a:latin typeface="Montserrat" pitchFamily="34" charset="0"/>
                <a:ea typeface="Montserrat" pitchFamily="34" charset="-122"/>
                <a:cs typeface="Montserrat" pitchFamily="34" charset="-120"/>
              </a:rPr>
              <a:t>NPV ₹1.58 Cr   IRR 19.8%   Payback 3.7 yrs</a:t>
            </a:r>
            <a:endParaRPr lang="en-US" sz="800" dirty="0"/>
          </a:p>
          <a:p>
            <a:pPr indent="0" marL="0">
              <a:lnSpc>
                <a:spcPct val="115000"/>
              </a:lnSpc>
              <a:buNone/>
            </a:pPr>
            <a:r>
              <a:rPr lang="en-US" sz="800" i="1" dirty="0">
                <a:solidFill>
                  <a:srgbClr val="17252D"/>
                </a:solidFill>
                <a:latin typeface="Montserrat" pitchFamily="34" charset="0"/>
                <a:ea typeface="Montserrat" pitchFamily="34" charset="-122"/>
                <a:cs typeface="Montserrat" pitchFamily="34" charset="-120"/>
              </a:rPr>
              <a:t>Proceed through gated waves</a:t>
            </a:r>
            <a:endParaRPr lang="en-US" sz="800" dirty="0"/>
          </a:p>
        </p:txBody>
      </p:sp>
      <p:sp>
        <p:nvSpPr>
          <p:cNvPr id="82" name="Shape 79"/>
          <p:cNvSpPr/>
          <p:nvPr/>
        </p:nvSpPr>
        <p:spPr>
          <a:xfrm>
            <a:off x="8138160" y="3017520"/>
            <a:ext cx="3319272" cy="566928"/>
          </a:xfrm>
          <a:prstGeom prst="roundRect">
            <a:avLst>
              <a:gd name="adj" fmla="val 9677"/>
            </a:avLst>
          </a:prstGeom>
          <a:solidFill>
            <a:srgbClr val="DFF3F5"/>
          </a:solidFill>
          <a:ln/>
        </p:spPr>
      </p:sp>
      <p:sp>
        <p:nvSpPr>
          <p:cNvPr id="83" name="Shape 80"/>
          <p:cNvSpPr/>
          <p:nvPr/>
        </p:nvSpPr>
        <p:spPr>
          <a:xfrm>
            <a:off x="8229600" y="3090672"/>
            <a:ext cx="932688" cy="420624"/>
          </a:xfrm>
          <a:prstGeom prst="roundRect">
            <a:avLst>
              <a:gd name="adj" fmla="val 10870"/>
            </a:avLst>
          </a:prstGeom>
          <a:solidFill>
            <a:srgbClr val="07ACBE"/>
          </a:solidFill>
          <a:ln/>
        </p:spPr>
      </p:sp>
      <p:sp>
        <p:nvSpPr>
          <p:cNvPr id="84" name="Text 81"/>
          <p:cNvSpPr/>
          <p:nvPr/>
        </p:nvSpPr>
        <p:spPr>
          <a:xfrm>
            <a:off x="8229600" y="3090672"/>
            <a:ext cx="932688"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Upside</a:t>
            </a:r>
            <a:endParaRPr lang="en-US" sz="1050" dirty="0"/>
          </a:p>
        </p:txBody>
      </p:sp>
      <p:sp>
        <p:nvSpPr>
          <p:cNvPr id="85" name="Text 82"/>
          <p:cNvSpPr/>
          <p:nvPr/>
        </p:nvSpPr>
        <p:spPr>
          <a:xfrm>
            <a:off x="9272016" y="3072384"/>
            <a:ext cx="2075688" cy="457200"/>
          </a:xfrm>
          <a:prstGeom prst="rect">
            <a:avLst/>
          </a:prstGeom>
          <a:noFill/>
          <a:ln/>
        </p:spPr>
        <p:txBody>
          <a:bodyPr wrap="square" lIns="0" tIns="0" rIns="0" bIns="0" rtlCol="0" anchor="ctr"/>
          <a:lstStyle/>
          <a:p>
            <a:pPr indent="0" marL="0">
              <a:lnSpc>
                <a:spcPct val="115000"/>
              </a:lnSpc>
              <a:buNone/>
            </a:pPr>
            <a:r>
              <a:rPr lang="en-US" sz="800" b="1" dirty="0">
                <a:solidFill>
                  <a:srgbClr val="07ACBE"/>
                </a:solidFill>
                <a:latin typeface="Montserrat" pitchFamily="34" charset="0"/>
                <a:ea typeface="Montserrat" pitchFamily="34" charset="-122"/>
                <a:cs typeface="Montserrat" pitchFamily="34" charset="-120"/>
              </a:rPr>
              <a:t>NPV ₹7.54 Cr   IRR 45.9%   Payback 2.6 yrs</a:t>
            </a:r>
            <a:endParaRPr lang="en-US" sz="800" dirty="0"/>
          </a:p>
          <a:p>
            <a:pPr indent="0" marL="0">
              <a:lnSpc>
                <a:spcPct val="115000"/>
              </a:lnSpc>
              <a:buNone/>
            </a:pPr>
            <a:r>
              <a:rPr lang="en-US" sz="800" i="1" dirty="0">
                <a:solidFill>
                  <a:srgbClr val="17252D"/>
                </a:solidFill>
                <a:latin typeface="Montserrat" pitchFamily="34" charset="0"/>
                <a:ea typeface="Montserrat" pitchFamily="34" charset="-122"/>
                <a:cs typeface="Montserrat" pitchFamily="34" charset="-120"/>
              </a:rPr>
              <a:t>Accelerate client rollout</a:t>
            </a:r>
            <a:endParaRPr lang="en-US" sz="800" dirty="0"/>
          </a:p>
        </p:txBody>
      </p:sp>
      <p:sp>
        <p:nvSpPr>
          <p:cNvPr id="86" name="Text 83"/>
          <p:cNvSpPr/>
          <p:nvPr/>
        </p:nvSpPr>
        <p:spPr>
          <a:xfrm>
            <a:off x="8138160" y="3648456"/>
            <a:ext cx="3319272" cy="256032"/>
          </a:xfrm>
          <a:prstGeom prst="rect">
            <a:avLst/>
          </a:prstGeom>
          <a:noFill/>
          <a:ln/>
        </p:spPr>
        <p:txBody>
          <a:bodyPr wrap="square" lIns="0" tIns="0" rIns="0" bIns="0" rtlCol="0" anchor="ctr"/>
          <a:lstStyle/>
          <a:p>
            <a:pPr algn="ctr" indent="0" marL="0">
              <a:buNone/>
            </a:pPr>
            <a:r>
              <a:rPr lang="en-US" sz="830" b="1" i="1" dirty="0">
                <a:solidFill>
                  <a:srgbClr val="CA4852"/>
                </a:solidFill>
                <a:latin typeface="Montserrat" pitchFamily="34" charset="0"/>
                <a:ea typeface="Montserrat" pitchFamily="34" charset="-122"/>
                <a:cs typeface="Montserrat" pitchFamily="34" charset="-120"/>
              </a:rPr>
              <a:t>Decision is robust only if benefits are revalidated after pilot waves.</a:t>
            </a:r>
            <a:endParaRPr lang="en-US" sz="830" dirty="0"/>
          </a:p>
        </p:txBody>
      </p:sp>
      <p:sp>
        <p:nvSpPr>
          <p:cNvPr id="87" name="Shape 84"/>
          <p:cNvSpPr/>
          <p:nvPr/>
        </p:nvSpPr>
        <p:spPr>
          <a:xfrm>
            <a:off x="8138160" y="4032504"/>
            <a:ext cx="3319272" cy="1472184"/>
          </a:xfrm>
          <a:prstGeom prst="roundRect">
            <a:avLst>
              <a:gd name="adj" fmla="val 4348"/>
            </a:avLst>
          </a:prstGeom>
          <a:solidFill>
            <a:srgbClr val="E3E3E5"/>
          </a:solidFill>
          <a:ln/>
        </p:spPr>
      </p:sp>
      <p:sp>
        <p:nvSpPr>
          <p:cNvPr id="88" name="Text 85"/>
          <p:cNvSpPr/>
          <p:nvPr/>
        </p:nvSpPr>
        <p:spPr>
          <a:xfrm>
            <a:off x="8284464" y="4114800"/>
            <a:ext cx="3026664" cy="155448"/>
          </a:xfrm>
          <a:prstGeom prst="rect">
            <a:avLst/>
          </a:prstGeom>
          <a:noFill/>
          <a:ln/>
        </p:spPr>
        <p:txBody>
          <a:bodyPr wrap="square" lIns="0" tIns="0" rIns="0" bIns="0" rtlCol="0" anchor="ctr"/>
          <a:lstStyle/>
          <a:p>
            <a:pPr indent="0" marL="0">
              <a:buNone/>
            </a:pPr>
            <a:r>
              <a:rPr lang="en-US" sz="830" b="1" spc="50" kern="0" dirty="0">
                <a:solidFill>
                  <a:srgbClr val="07ACBE"/>
                </a:solidFill>
                <a:latin typeface="Montserrat" pitchFamily="34" charset="0"/>
                <a:ea typeface="Montserrat" pitchFamily="34" charset="-122"/>
                <a:cs typeface="Montserrat" pitchFamily="34" charset="-120"/>
              </a:rPr>
              <a:t>ESSENTIAL ASSUMPTIONS  </a:t>
            </a:r>
            <a:pPr indent="0" marL="0">
              <a:buNone/>
            </a:pPr>
            <a:r>
              <a:rPr lang="en-US" sz="830" i="1" dirty="0">
                <a:solidFill>
                  <a:srgbClr val="859EA7"/>
                </a:solidFill>
                <a:latin typeface="Montserrat" pitchFamily="34" charset="0"/>
                <a:ea typeface="Montserrat" pitchFamily="34" charset="-122"/>
                <a:cs typeface="Montserrat" pitchFamily="34" charset="-120"/>
              </a:rPr>
              <a:t>— because Apex is hypothetical</a:t>
            </a:r>
            <a:endParaRPr lang="en-US" sz="830" dirty="0"/>
          </a:p>
        </p:txBody>
      </p:sp>
      <p:sp>
        <p:nvSpPr>
          <p:cNvPr id="89" name="Text 86"/>
          <p:cNvSpPr/>
          <p:nvPr/>
        </p:nvSpPr>
        <p:spPr>
          <a:xfrm>
            <a:off x="8284464" y="4306824"/>
            <a:ext cx="3026664" cy="905256"/>
          </a:xfrm>
          <a:prstGeom prst="rect">
            <a:avLst/>
          </a:prstGeom>
          <a:noFill/>
          <a:ln/>
        </p:spPr>
        <p:txBody>
          <a:bodyPr wrap="square" lIns="0" tIns="0" rIns="0" bIns="0" rtlCol="0" anchor="t"/>
          <a:lstStyle/>
          <a:p>
            <a:pPr marL="114300" indent="-114300">
              <a:lnSpc>
                <a:spcPct val="103000"/>
              </a:lnSpc>
              <a:spcAft>
                <a:spcPts val="400"/>
              </a:spcAft>
              <a:buSzPct val="100000"/>
              <a:buChar char="•"/>
            </a:pPr>
            <a:r>
              <a:rPr lang="en-US" sz="720" dirty="0">
                <a:solidFill>
                  <a:srgbClr val="17252D"/>
                </a:solidFill>
                <a:latin typeface="Montserrat" pitchFamily="34" charset="0"/>
                <a:ea typeface="Montserrat" pitchFamily="34" charset="-122"/>
                <a:cs typeface="Montserrat" pitchFamily="34" charset="-120"/>
              </a:rPr>
              <a:t>Baseline: 72 pilots delivered — 58 successful, 11 scaled</a:t>
            </a:r>
            <a:endParaRPr lang="en-US" sz="720" dirty="0"/>
          </a:p>
          <a:p>
            <a:pPr marL="114300" indent="-114300">
              <a:lnSpc>
                <a:spcPct val="103000"/>
              </a:lnSpc>
              <a:spcAft>
                <a:spcPts val="400"/>
              </a:spcAft>
              <a:buSzPct val="100000"/>
              <a:buChar char="•"/>
            </a:pPr>
            <a:r>
              <a:rPr lang="en-US" sz="720" dirty="0">
                <a:solidFill>
                  <a:srgbClr val="17252D"/>
                </a:solidFill>
                <a:latin typeface="Montserrat" pitchFamily="34" charset="0"/>
                <a:ea typeface="Montserrat" pitchFamily="34" charset="-122"/>
                <a:cs typeface="Montserrat" pitchFamily="34" charset="-120"/>
              </a:rPr>
              <a:t>Lever: better conversion of successful pilots into enterprise programs</a:t>
            </a:r>
            <a:endParaRPr lang="en-US" sz="720" dirty="0"/>
          </a:p>
          <a:p>
            <a:pPr marL="114300" indent="-114300">
              <a:lnSpc>
                <a:spcPct val="103000"/>
              </a:lnSpc>
              <a:spcAft>
                <a:spcPts val="400"/>
              </a:spcAft>
              <a:buSzPct val="100000"/>
              <a:buChar char="•"/>
            </a:pPr>
            <a:r>
              <a:rPr lang="en-US" sz="720" dirty="0">
                <a:solidFill>
                  <a:srgbClr val="17252D"/>
                </a:solidFill>
                <a:latin typeface="Montserrat" pitchFamily="34" charset="0"/>
                <a:ea typeface="Montserrat" pitchFamily="34" charset="-122"/>
                <a:cs typeface="Montserrat" pitchFamily="34" charset="-120"/>
              </a:rPr>
              <a:t>Benefits: follow-on revenue, reduced stranded effort, faster scale decisions, reusable IP</a:t>
            </a:r>
            <a:endParaRPr lang="en-US" sz="720" dirty="0"/>
          </a:p>
          <a:p>
            <a:pPr marL="114300" indent="-114300">
              <a:lnSpc>
                <a:spcPct val="103000"/>
              </a:lnSpc>
              <a:spcAft>
                <a:spcPts val="400"/>
              </a:spcAft>
              <a:buSzPct val="100000"/>
              <a:buChar char="•"/>
            </a:pPr>
            <a:r>
              <a:rPr lang="en-US" sz="720" dirty="0">
                <a:solidFill>
                  <a:srgbClr val="17252D"/>
                </a:solidFill>
                <a:latin typeface="Montserrat" pitchFamily="34" charset="0"/>
                <a:ea typeface="Montserrat" pitchFamily="34" charset="-122"/>
                <a:cs typeface="Montserrat" pitchFamily="34" charset="-120"/>
              </a:rPr>
              <a:t>Discount rate 12% · 5-yr model · stage-gated funding, refreshed after 3 pilot waves</a:t>
            </a:r>
            <a:endParaRPr lang="en-US" sz="720" dirty="0"/>
          </a:p>
        </p:txBody>
      </p:sp>
      <p:sp>
        <p:nvSpPr>
          <p:cNvPr id="90" name="Text 87"/>
          <p:cNvSpPr/>
          <p:nvPr/>
        </p:nvSpPr>
        <p:spPr>
          <a:xfrm>
            <a:off x="8284464" y="5266944"/>
            <a:ext cx="3026664" cy="201168"/>
          </a:xfrm>
          <a:prstGeom prst="rect">
            <a:avLst/>
          </a:prstGeom>
          <a:noFill/>
          <a:ln/>
        </p:spPr>
        <p:txBody>
          <a:bodyPr wrap="square" lIns="0" tIns="0" rIns="0" bIns="0" rtlCol="0" anchor="ctr"/>
          <a:lstStyle/>
          <a:p>
            <a:pPr indent="0" marL="0">
              <a:buNone/>
            </a:pPr>
            <a:r>
              <a:rPr lang="en-US" sz="730" b="1" i="1" dirty="0">
                <a:solidFill>
                  <a:srgbClr val="65261D"/>
                </a:solidFill>
                <a:latin typeface="Montserrat" pitchFamily="34" charset="0"/>
                <a:ea typeface="Montserrat" pitchFamily="34" charset="-122"/>
                <a:cs typeface="Montserrat" pitchFamily="34" charset="-120"/>
              </a:rPr>
              <a:t>These are planning assumptions, not audited Apex financials.</a:t>
            </a:r>
            <a:endParaRPr lang="en-US" sz="730" dirty="0"/>
          </a:p>
        </p:txBody>
      </p:sp>
      <p:sp>
        <p:nvSpPr>
          <p:cNvPr id="91" name="Shape 88"/>
          <p:cNvSpPr/>
          <p:nvPr/>
        </p:nvSpPr>
        <p:spPr>
          <a:xfrm>
            <a:off x="365760" y="5577840"/>
            <a:ext cx="11457432" cy="960120"/>
          </a:xfrm>
          <a:prstGeom prst="roundRect">
            <a:avLst>
              <a:gd name="adj" fmla="val 7619"/>
            </a:avLst>
          </a:prstGeom>
          <a:solidFill>
            <a:srgbClr val="17252D"/>
          </a:solidFill>
          <a:ln/>
        </p:spPr>
      </p:sp>
      <p:sp>
        <p:nvSpPr>
          <p:cNvPr id="92" name="Shape 89"/>
          <p:cNvSpPr/>
          <p:nvPr/>
        </p:nvSpPr>
        <p:spPr>
          <a:xfrm>
            <a:off x="530352" y="5687568"/>
            <a:ext cx="82296" cy="82296"/>
          </a:xfrm>
          <a:prstGeom prst="ellipse">
            <a:avLst/>
          </a:prstGeom>
          <a:solidFill>
            <a:srgbClr val="CA4852"/>
          </a:solidFill>
          <a:ln/>
        </p:spPr>
      </p:sp>
      <p:sp>
        <p:nvSpPr>
          <p:cNvPr id="93" name="Shape 90"/>
          <p:cNvSpPr/>
          <p:nvPr/>
        </p:nvSpPr>
        <p:spPr>
          <a:xfrm>
            <a:off x="676656" y="5687568"/>
            <a:ext cx="82296" cy="82296"/>
          </a:xfrm>
          <a:prstGeom prst="ellipse">
            <a:avLst/>
          </a:prstGeom>
          <a:solidFill>
            <a:srgbClr val="07ACBE"/>
          </a:solidFill>
          <a:ln/>
        </p:spPr>
      </p:sp>
      <p:sp>
        <p:nvSpPr>
          <p:cNvPr id="94" name="Shape 91"/>
          <p:cNvSpPr/>
          <p:nvPr/>
        </p:nvSpPr>
        <p:spPr>
          <a:xfrm>
            <a:off x="822960" y="5687568"/>
            <a:ext cx="82296" cy="82296"/>
          </a:xfrm>
          <a:prstGeom prst="ellipse">
            <a:avLst/>
          </a:prstGeom>
          <a:solidFill>
            <a:srgbClr val="ABB8BE"/>
          </a:solidFill>
          <a:ln/>
        </p:spPr>
      </p:sp>
      <p:sp>
        <p:nvSpPr>
          <p:cNvPr id="95" name="Text 92"/>
          <p:cNvSpPr/>
          <p:nvPr/>
        </p:nvSpPr>
        <p:spPr>
          <a:xfrm>
            <a:off x="1051560" y="5632704"/>
            <a:ext cx="10424160" cy="18288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INSERT / REFERENCE:  POLARIS_Cure_Pilotitis_Financial_Model_and_Gantt.xlsx</a:t>
            </a:r>
            <a:endParaRPr lang="en-US" sz="900" dirty="0"/>
          </a:p>
        </p:txBody>
      </p:sp>
      <p:sp>
        <p:nvSpPr>
          <p:cNvPr id="96" name="Shape 93"/>
          <p:cNvSpPr/>
          <p:nvPr/>
        </p:nvSpPr>
        <p:spPr>
          <a:xfrm>
            <a:off x="530352" y="5888736"/>
            <a:ext cx="2670048" cy="557784"/>
          </a:xfrm>
          <a:prstGeom prst="roundRect">
            <a:avLst>
              <a:gd name="adj" fmla="val 8197"/>
            </a:avLst>
          </a:prstGeom>
          <a:solidFill>
            <a:srgbClr val="223541"/>
          </a:solidFill>
          <a:ln w="9525">
            <a:solidFill>
              <a:srgbClr val="859EA7"/>
            </a:solidFill>
            <a:prstDash val="dash"/>
          </a:ln>
        </p:spPr>
      </p:sp>
      <p:sp>
        <p:nvSpPr>
          <p:cNvPr id="97" name="Text 94"/>
          <p:cNvSpPr/>
          <p:nvPr/>
        </p:nvSpPr>
        <p:spPr>
          <a:xfrm>
            <a:off x="530352" y="5888736"/>
            <a:ext cx="2670048" cy="557784"/>
          </a:xfrm>
          <a:prstGeom prst="rect">
            <a:avLst/>
          </a:prstGeom>
          <a:noFill/>
          <a:ln/>
        </p:spPr>
        <p:txBody>
          <a:bodyPr wrap="square" lIns="0" tIns="0" rIns="0" bIns="0" rtlCol="0" anchor="ctr"/>
          <a:lstStyle/>
          <a:p>
            <a:pPr algn="ctr" indent="0" marL="0">
              <a:lnSpc>
                <a:spcPct val="105000"/>
              </a:lnSpc>
              <a:buNone/>
            </a:pPr>
            <a:r>
              <a:rPr lang="en-US" sz="760" dirty="0">
                <a:solidFill>
                  <a:srgbClr val="ABB8BE"/>
                </a:solidFill>
                <a:latin typeface="Montserrat" pitchFamily="34" charset="0"/>
                <a:ea typeface="Montserrat" pitchFamily="34" charset="-122"/>
                <a:cs typeface="Montserrat" pitchFamily="34" charset="-120"/>
              </a:rPr>
              <a:t>Executive Financial</a:t>
            </a:r>
            <a:endParaRPr lang="en-US" sz="760" dirty="0"/>
          </a:p>
          <a:p>
            <a:pPr algn="ctr" indent="0" marL="0">
              <a:lnSpc>
                <a:spcPct val="105000"/>
              </a:lnSpc>
              <a:buNone/>
            </a:pPr>
            <a:r>
              <a:rPr lang="en-US" sz="760" dirty="0">
                <a:solidFill>
                  <a:srgbClr val="ABB8BE"/>
                </a:solidFill>
                <a:latin typeface="Montserrat" pitchFamily="34" charset="0"/>
                <a:ea typeface="Montserrat" pitchFamily="34" charset="-122"/>
                <a:cs typeface="Montserrat" pitchFamily="34" charset="-120"/>
              </a:rPr>
              <a:t>Dashboard</a:t>
            </a:r>
            <a:endParaRPr lang="en-US" sz="760" dirty="0"/>
          </a:p>
        </p:txBody>
      </p:sp>
      <p:sp>
        <p:nvSpPr>
          <p:cNvPr id="98" name="Shape 95"/>
          <p:cNvSpPr/>
          <p:nvPr/>
        </p:nvSpPr>
        <p:spPr>
          <a:xfrm>
            <a:off x="3337560" y="5888736"/>
            <a:ext cx="2670048" cy="557784"/>
          </a:xfrm>
          <a:prstGeom prst="roundRect">
            <a:avLst>
              <a:gd name="adj" fmla="val 8197"/>
            </a:avLst>
          </a:prstGeom>
          <a:solidFill>
            <a:srgbClr val="223541"/>
          </a:solidFill>
          <a:ln w="9525">
            <a:solidFill>
              <a:srgbClr val="859EA7"/>
            </a:solidFill>
            <a:prstDash val="dash"/>
          </a:ln>
        </p:spPr>
      </p:sp>
      <p:sp>
        <p:nvSpPr>
          <p:cNvPr id="99" name="Text 96"/>
          <p:cNvSpPr/>
          <p:nvPr/>
        </p:nvSpPr>
        <p:spPr>
          <a:xfrm>
            <a:off x="3337560" y="5888736"/>
            <a:ext cx="2670048" cy="557784"/>
          </a:xfrm>
          <a:prstGeom prst="rect">
            <a:avLst/>
          </a:prstGeom>
          <a:noFill/>
          <a:ln/>
        </p:spPr>
        <p:txBody>
          <a:bodyPr wrap="square" lIns="0" tIns="0" rIns="0" bIns="0" rtlCol="0" anchor="ctr"/>
          <a:lstStyle/>
          <a:p>
            <a:pPr algn="ctr" indent="0" marL="0">
              <a:lnSpc>
                <a:spcPct val="105000"/>
              </a:lnSpc>
              <a:buNone/>
            </a:pPr>
            <a:r>
              <a:rPr lang="en-US" sz="760" dirty="0">
                <a:solidFill>
                  <a:srgbClr val="ABB8BE"/>
                </a:solidFill>
                <a:latin typeface="Montserrat" pitchFamily="34" charset="0"/>
                <a:ea typeface="Montserrat" pitchFamily="34" charset="-122"/>
                <a:cs typeface="Montserrat" pitchFamily="34" charset="-120"/>
              </a:rPr>
              <a:t>Scenario</a:t>
            </a:r>
            <a:endParaRPr lang="en-US" sz="760" dirty="0"/>
          </a:p>
          <a:p>
            <a:pPr algn="ctr" indent="0" marL="0">
              <a:lnSpc>
                <a:spcPct val="105000"/>
              </a:lnSpc>
              <a:buNone/>
            </a:pPr>
            <a:r>
              <a:rPr lang="en-US" sz="760" dirty="0">
                <a:solidFill>
                  <a:srgbClr val="ABB8BE"/>
                </a:solidFill>
                <a:latin typeface="Montserrat" pitchFamily="34" charset="0"/>
                <a:ea typeface="Montserrat" pitchFamily="34" charset="-122"/>
                <a:cs typeface="Montserrat" pitchFamily="34" charset="-120"/>
              </a:rPr>
              <a:t>Table</a:t>
            </a:r>
            <a:endParaRPr lang="en-US" sz="760" dirty="0"/>
          </a:p>
        </p:txBody>
      </p:sp>
      <p:sp>
        <p:nvSpPr>
          <p:cNvPr id="100" name="Shape 97"/>
          <p:cNvSpPr/>
          <p:nvPr/>
        </p:nvSpPr>
        <p:spPr>
          <a:xfrm>
            <a:off x="6144768" y="5888736"/>
            <a:ext cx="2670048" cy="557784"/>
          </a:xfrm>
          <a:prstGeom prst="roundRect">
            <a:avLst>
              <a:gd name="adj" fmla="val 8197"/>
            </a:avLst>
          </a:prstGeom>
          <a:solidFill>
            <a:srgbClr val="223541"/>
          </a:solidFill>
          <a:ln w="9525">
            <a:solidFill>
              <a:srgbClr val="859EA7"/>
            </a:solidFill>
            <a:prstDash val="dash"/>
          </a:ln>
        </p:spPr>
      </p:sp>
      <p:sp>
        <p:nvSpPr>
          <p:cNvPr id="101" name="Text 98"/>
          <p:cNvSpPr/>
          <p:nvPr/>
        </p:nvSpPr>
        <p:spPr>
          <a:xfrm>
            <a:off x="6144768" y="5888736"/>
            <a:ext cx="2670048" cy="557784"/>
          </a:xfrm>
          <a:prstGeom prst="rect">
            <a:avLst/>
          </a:prstGeom>
          <a:noFill/>
          <a:ln/>
        </p:spPr>
        <p:txBody>
          <a:bodyPr wrap="square" lIns="0" tIns="0" rIns="0" bIns="0" rtlCol="0" anchor="ctr"/>
          <a:lstStyle/>
          <a:p>
            <a:pPr algn="ctr" indent="0" marL="0">
              <a:lnSpc>
                <a:spcPct val="105000"/>
              </a:lnSpc>
              <a:buNone/>
            </a:pPr>
            <a:r>
              <a:rPr lang="en-US" sz="760" dirty="0">
                <a:solidFill>
                  <a:srgbClr val="ABB8BE"/>
                </a:solidFill>
                <a:latin typeface="Montserrat" pitchFamily="34" charset="0"/>
                <a:ea typeface="Montserrat" pitchFamily="34" charset="-122"/>
                <a:cs typeface="Montserrat" pitchFamily="34" charset="-120"/>
              </a:rPr>
              <a:t>NPV</a:t>
            </a:r>
            <a:endParaRPr lang="en-US" sz="760" dirty="0"/>
          </a:p>
          <a:p>
            <a:pPr algn="ctr" indent="0" marL="0">
              <a:lnSpc>
                <a:spcPct val="105000"/>
              </a:lnSpc>
              <a:buNone/>
            </a:pPr>
            <a:r>
              <a:rPr lang="en-US" sz="760" dirty="0">
                <a:solidFill>
                  <a:srgbClr val="ABB8BE"/>
                </a:solidFill>
                <a:latin typeface="Montserrat" pitchFamily="34" charset="0"/>
                <a:ea typeface="Montserrat" pitchFamily="34" charset="-122"/>
                <a:cs typeface="Montserrat" pitchFamily="34" charset="-120"/>
              </a:rPr>
              <a:t>Sensitivity</a:t>
            </a:r>
            <a:endParaRPr lang="en-US" sz="760" dirty="0"/>
          </a:p>
        </p:txBody>
      </p:sp>
      <p:sp>
        <p:nvSpPr>
          <p:cNvPr id="102" name="Shape 99"/>
          <p:cNvSpPr/>
          <p:nvPr/>
        </p:nvSpPr>
        <p:spPr>
          <a:xfrm>
            <a:off x="8951976" y="5888736"/>
            <a:ext cx="2670048" cy="557784"/>
          </a:xfrm>
          <a:prstGeom prst="roundRect">
            <a:avLst>
              <a:gd name="adj" fmla="val 8197"/>
            </a:avLst>
          </a:prstGeom>
          <a:solidFill>
            <a:srgbClr val="223541"/>
          </a:solidFill>
          <a:ln w="9525">
            <a:solidFill>
              <a:srgbClr val="859EA7"/>
            </a:solidFill>
            <a:prstDash val="dash"/>
          </a:ln>
        </p:spPr>
      </p:sp>
      <p:sp>
        <p:nvSpPr>
          <p:cNvPr id="103" name="Text 100"/>
          <p:cNvSpPr/>
          <p:nvPr/>
        </p:nvSpPr>
        <p:spPr>
          <a:xfrm>
            <a:off x="8951976" y="5888736"/>
            <a:ext cx="2670048" cy="557784"/>
          </a:xfrm>
          <a:prstGeom prst="rect">
            <a:avLst/>
          </a:prstGeom>
          <a:noFill/>
          <a:ln/>
        </p:spPr>
        <p:txBody>
          <a:bodyPr wrap="square" lIns="0" tIns="0" rIns="0" bIns="0" rtlCol="0" anchor="ctr"/>
          <a:lstStyle/>
          <a:p>
            <a:pPr algn="ctr" indent="0" marL="0">
              <a:lnSpc>
                <a:spcPct val="105000"/>
              </a:lnSpc>
              <a:buNone/>
            </a:pPr>
            <a:r>
              <a:rPr lang="en-US" sz="760" dirty="0">
                <a:solidFill>
                  <a:srgbClr val="ABB8BE"/>
                </a:solidFill>
                <a:latin typeface="Montserrat" pitchFamily="34" charset="0"/>
                <a:ea typeface="Montserrat" pitchFamily="34" charset="-122"/>
                <a:cs typeface="Montserrat" pitchFamily="34" charset="-120"/>
              </a:rPr>
              <a:t>Implementation</a:t>
            </a:r>
            <a:endParaRPr lang="en-US" sz="760" dirty="0"/>
          </a:p>
          <a:p>
            <a:pPr algn="ctr" indent="0" marL="0">
              <a:lnSpc>
                <a:spcPct val="105000"/>
              </a:lnSpc>
              <a:buNone/>
            </a:pPr>
            <a:r>
              <a:rPr lang="en-US" sz="760" dirty="0">
                <a:solidFill>
                  <a:srgbClr val="ABB8BE"/>
                </a:solidFill>
                <a:latin typeface="Montserrat" pitchFamily="34" charset="0"/>
                <a:ea typeface="Montserrat" pitchFamily="34" charset="-122"/>
                <a:cs typeface="Montserrat" pitchFamily="34" charset="-120"/>
              </a:rPr>
              <a:t>Cost Build-up</a:t>
            </a:r>
            <a:endParaRPr lang="en-US" sz="7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2026-08-03T17:08:57Z</dcterms:created>
  <dcterms:modified xsi:type="dcterms:W3CDTF">2026-08-03T17:08:57Z</dcterms:modified>
</cp:coreProperties>
</file>